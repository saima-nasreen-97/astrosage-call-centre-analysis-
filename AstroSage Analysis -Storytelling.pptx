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theme/themeOverride1.xml" ContentType="application/vnd.openxmlformats-officedocument.themeOverr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2.xml" ContentType="application/vnd.openxmlformats-officedocument.themeOverr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3.xml" ContentType="application/vnd.openxmlformats-officedocument.themeOverrid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4.xml" ContentType="application/vnd.openxmlformats-officedocument.themeOverr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9" r:id="rId16"/>
    <p:sldId id="271" r:id="rId17"/>
    <p:sldId id="272" r:id="rId18"/>
    <p:sldId id="273" r:id="rId19"/>
    <p:sldId id="274" r:id="rId20"/>
    <p:sldId id="275" r:id="rId21"/>
    <p:sldId id="278"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ima Nasreen" initials="SN" lastIdx="1" clrIdx="0">
    <p:extLst>
      <p:ext uri="{19B8F6BF-5375-455C-9EA6-DF929625EA0E}">
        <p15:presenceInfo xmlns:p15="http://schemas.microsoft.com/office/powerpoint/2012/main" userId="132f67fed253456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aima\OneDrive\Documents\Newton%20School\Excel%20Project\AstroSage_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aima\OneDrive\Documents\Newton%20School\Excel%20Project\AstroSage_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aima\OneDrive\Documents\Newton%20School\Excel%20Project\AstroSage_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aima\OneDrive\Documents\Newton%20School\Excel%20Project\AstroSage_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2" Type="http://schemas.openxmlformats.org/officeDocument/2006/relationships/oleObject" Target="file:///C:\Users\Saima\OneDrive\Documents\Newton%20School\Excel%20Project\AstroSage_analysis.xlsx" TargetMode="External"/><Relationship Id="rId1" Type="http://schemas.openxmlformats.org/officeDocument/2006/relationships/themeOverride" Target="../theme/themeOverride1.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Saima\OneDrive\Documents\Newton%20School\Excel%20Project\AstroSage_analysis.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C:\Users\Saima\OneDrive\Documents\Newton%20School\Excel%20Project\AstroSage_analysis.xlsx" TargetMode="Externa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file:///C:\Users\Saima\OneDrive\Documents\Newton%20School\Excel%20Project\AstroSage_analysis.xlsx" TargetMode="External"/></Relationships>
</file>

<file path=ppt/charts/_rels/chart9.xml.rels><?xml version="1.0" encoding="UTF-8" standalone="yes"?>
<Relationships xmlns="http://schemas.openxmlformats.org/package/2006/relationships"><Relationship Id="rId3" Type="http://schemas.openxmlformats.org/officeDocument/2006/relationships/oleObject" Target="file:///C:\Users\Saima\OneDrive\Documents\Newton%20School\Excel%20Project\AstroSage_analysis.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[AstroSage_analysis.xlsx]Objective |Q-9 &amp; 10!PivotTable3</c:name>
    <c:fmtId val="37"/>
  </c:pivotSource>
  <c:chart>
    <c:title>
      <c:tx>
        <c:rich>
          <a:bodyPr rot="0" spcFirstLastPara="1" vertOverflow="ellipsis" vert="horz" wrap="square" anchor="ctr" anchorCtr="1"/>
          <a:lstStyle/>
          <a:p>
            <a:pPr>
              <a:defRPr sz="1400" b="1" i="0" u="none" strike="noStrike" kern="1200" spc="0" baseline="0">
                <a:solidFill>
                  <a:schemeClr val="tx1"/>
                </a:solidFill>
                <a:latin typeface="Segoe UI" panose="020B0502040204020203" pitchFamily="34" charset="0"/>
                <a:ea typeface="+mn-ea"/>
                <a:cs typeface="Segoe UI" panose="020B0502040204020203" pitchFamily="34" charset="0"/>
              </a:defRPr>
            </a:pPr>
            <a:r>
              <a:rPr lang="en-IN" sz="1400" b="1" dirty="0">
                <a:solidFill>
                  <a:schemeClr val="tx1"/>
                </a:solidFill>
              </a:rPr>
              <a:t>Total </a:t>
            </a:r>
            <a:r>
              <a:rPr lang="en-IN" sz="1400" b="1" dirty="0" err="1">
                <a:solidFill>
                  <a:schemeClr val="tx1"/>
                </a:solidFill>
              </a:rPr>
              <a:t>Reveue</a:t>
            </a:r>
            <a:r>
              <a:rPr lang="en-IN" sz="1400" b="1" dirty="0">
                <a:solidFill>
                  <a:schemeClr val="tx1"/>
                </a:solidFill>
              </a:rPr>
              <a:t>  vs  Consultation Type </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Segoe UI" panose="020B0502040204020203" pitchFamily="34" charset="0"/>
              <a:ea typeface="+mn-ea"/>
              <a:cs typeface="Segoe UI" panose="020B0502040204020203" pitchFamily="34" charset="0"/>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dLbl>
          <c:idx val="0"/>
          <c:layout>
            <c:manualLayout>
              <c:x val="2.7777777777777779E-3"/>
              <c:y val="-4.62962962962963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dLbl>
          <c:idx val="0"/>
          <c:layout>
            <c:manualLayout>
              <c:x val="2.7777777777777779E-3"/>
              <c:y val="-4.629629629629638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dLbl>
          <c:idx val="0"/>
          <c:layout>
            <c:manualLayout>
              <c:x val="5.5555555555554534E-3"/>
              <c:y val="-3.70370370370370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dLbl>
          <c:idx val="0"/>
          <c:layout>
            <c:manualLayout>
              <c:x val="-2.8885037550548816E-3"/>
              <c:y val="-9.443573573211464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4162333911034083"/>
                  <c:h val="6.6284019244914449E-2"/>
                </c:manualLayout>
              </c15:layout>
            </c:ext>
          </c:extLst>
        </c:dLbl>
      </c:pivotFmt>
      <c:pivotFmt>
        <c:idx val="5"/>
        <c:spPr>
          <a:solidFill>
            <a:schemeClr val="accent1"/>
          </a:solidFill>
          <a:ln>
            <a:noFill/>
          </a:ln>
          <a:effectLst/>
          <a:sp3d/>
        </c:spPr>
        <c:dLbl>
          <c:idx val="0"/>
          <c:layout>
            <c:manualLayout>
              <c:x val="5.7770075101097633E-3"/>
              <c:y val="-6.636038795303726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dLbl>
          <c:idx val="0"/>
          <c:layout>
            <c:manualLayout>
              <c:x val="5.7770075101097633E-3"/>
              <c:y val="-6.636038795303726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dLbl>
          <c:idx val="0"/>
          <c:layout>
            <c:manualLayout>
              <c:x val="-2.8885037550548816E-3"/>
              <c:y val="-9.443573573211464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4162333911034083"/>
                  <c:h val="6.6284019244914449E-2"/>
                </c:manualLayout>
              </c15:layout>
            </c:ext>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dLbl>
          <c:idx val="0"/>
          <c:layout>
            <c:manualLayout>
              <c:x val="5.7770075101097633E-3"/>
              <c:y val="-6.6360387953037267E-2"/>
            </c:manualLayout>
          </c:layout>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dLbl>
          <c:idx val="0"/>
          <c:layout>
            <c:manualLayout>
              <c:x val="2.7440785673021384E-2"/>
              <c:y val="-8.4288635945302809E-2"/>
            </c:manualLayout>
          </c:layout>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0228191796649336"/>
                  <c:h val="8.6578218818538097E-2"/>
                </c:manualLayout>
              </c15:layout>
            </c:ext>
          </c:extLst>
        </c:dLbl>
      </c:pivotFmt>
      <c:pivotFmt>
        <c:idx val="12"/>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a:sp3d/>
        </c:spPr>
        <c:dLbl>
          <c:idx val="0"/>
          <c:layout>
            <c:manualLayout>
              <c:x val="5.7770075101097633E-3"/>
              <c:y val="-6.6360387953037267E-2"/>
            </c:manualLayout>
          </c:layout>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a:sp3d/>
        </c:spPr>
        <c:dLbl>
          <c:idx val="0"/>
          <c:layout>
            <c:manualLayout>
              <c:x val="2.7440785673021384E-2"/>
              <c:y val="-8.4288635945302809E-2"/>
            </c:manualLayout>
          </c:layout>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0228191796649336"/>
                  <c:h val="8.6578218818538097E-2"/>
                </c:manualLayout>
              </c15:layout>
            </c:ext>
          </c:extLst>
        </c:dLbl>
      </c:pivotFmt>
      <c:pivotFmt>
        <c:idx val="15"/>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a:sp3d/>
        </c:spPr>
        <c:dLbl>
          <c:idx val="0"/>
          <c:layout>
            <c:manualLayout>
              <c:x val="5.7770075101097633E-3"/>
              <c:y val="-6.6360387953037267E-2"/>
            </c:manualLayout>
          </c:layout>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a:sp3d/>
        </c:spPr>
        <c:dLbl>
          <c:idx val="0"/>
          <c:layout>
            <c:manualLayout>
              <c:x val="2.7440785673021384E-2"/>
              <c:y val="-8.4288635945302809E-2"/>
            </c:manualLayout>
          </c:layout>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0228191796649336"/>
                  <c:h val="8.6578218818538097E-2"/>
                </c:manualLayout>
              </c15:layout>
            </c:ext>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'Objective |Q-9 &amp; 10'!$C$8</c:f>
              <c:strCache>
                <c:ptCount val="1"/>
                <c:pt idx="0">
                  <c:v>Total</c:v>
                </c:pt>
              </c:strCache>
            </c:strRef>
          </c:tx>
          <c:spPr>
            <a:solidFill>
              <a:schemeClr val="accent4"/>
            </a:solidFill>
            <a:ln>
              <a:noFill/>
            </a:ln>
            <a:effectLst/>
            <a:sp3d/>
          </c:spPr>
          <c:invertIfNegative val="0"/>
          <c:dPt>
            <c:idx val="0"/>
            <c:invertIfNegative val="0"/>
            <c:bubble3D val="0"/>
            <c:spPr>
              <a:solidFill>
                <a:schemeClr val="accent4"/>
              </a:solidFill>
              <a:ln>
                <a:noFill/>
              </a:ln>
              <a:effectLst/>
              <a:sp3d/>
            </c:spPr>
            <c:extLst>
              <c:ext xmlns:c16="http://schemas.microsoft.com/office/drawing/2014/chart" uri="{C3380CC4-5D6E-409C-BE32-E72D297353CC}">
                <c16:uniqueId val="{00000001-007B-4ED5-865E-6141C550A532}"/>
              </c:ext>
            </c:extLst>
          </c:dPt>
          <c:dPt>
            <c:idx val="1"/>
            <c:invertIfNegative val="0"/>
            <c:bubble3D val="0"/>
            <c:spPr>
              <a:solidFill>
                <a:schemeClr val="accent4"/>
              </a:solidFill>
              <a:ln>
                <a:noFill/>
              </a:ln>
              <a:effectLst/>
              <a:sp3d/>
            </c:spPr>
            <c:extLst>
              <c:ext xmlns:c16="http://schemas.microsoft.com/office/drawing/2014/chart" uri="{C3380CC4-5D6E-409C-BE32-E72D297353CC}">
                <c16:uniqueId val="{00000003-007B-4ED5-865E-6141C550A532}"/>
              </c:ext>
            </c:extLst>
          </c:dPt>
          <c:dPt>
            <c:idx val="2"/>
            <c:invertIfNegative val="0"/>
            <c:bubble3D val="0"/>
            <c:extLst>
              <c:ext xmlns:c16="http://schemas.microsoft.com/office/drawing/2014/chart" uri="{C3380CC4-5D6E-409C-BE32-E72D297353CC}">
                <c16:uniqueId val="{00000004-007B-4ED5-865E-6141C550A532}"/>
              </c:ext>
            </c:extLst>
          </c:dPt>
          <c:dLbls>
            <c:dLbl>
              <c:idx val="0"/>
              <c:layout>
                <c:manualLayout>
                  <c:x val="5.7770075101097633E-3"/>
                  <c:y val="-6.63603879530372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07B-4ED5-865E-6141C550A532}"/>
                </c:ext>
              </c:extLst>
            </c:dLbl>
            <c:dLbl>
              <c:idx val="1"/>
              <c:layout>
                <c:manualLayout>
                  <c:x val="2.7440785673021384E-2"/>
                  <c:y val="-8.4288635945302809E-2"/>
                </c:manualLayout>
              </c:layout>
              <c:showLegendKey val="0"/>
              <c:showVal val="1"/>
              <c:showCatName val="0"/>
              <c:showSerName val="0"/>
              <c:showPercent val="0"/>
              <c:showBubbleSize val="0"/>
              <c:extLst>
                <c:ext xmlns:c15="http://schemas.microsoft.com/office/drawing/2012/chart" uri="{CE6537A1-D6FC-4f65-9D91-7224C49458BB}">
                  <c15:layout>
                    <c:manualLayout>
                      <c:w val="0.20228191796649336"/>
                      <c:h val="8.6578218818538097E-2"/>
                    </c:manualLayout>
                  </c15:layout>
                </c:ext>
                <c:ext xmlns:c16="http://schemas.microsoft.com/office/drawing/2014/chart" uri="{C3380CC4-5D6E-409C-BE32-E72D297353CC}">
                  <c16:uniqueId val="{00000003-007B-4ED5-865E-6141C550A532}"/>
                </c:ext>
              </c:extLst>
            </c:dLbl>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'Objective |Q-9 &amp; 10'!$B$9:$B$11</c:f>
              <c:strCache>
                <c:ptCount val="2"/>
                <c:pt idx="0">
                  <c:v>Call</c:v>
                </c:pt>
                <c:pt idx="1">
                  <c:v>Chat</c:v>
                </c:pt>
              </c:strCache>
            </c:strRef>
          </c:cat>
          <c:val>
            <c:numRef>
              <c:f>'Objective |Q-9 &amp; 10'!$C$9:$C$11</c:f>
              <c:numCache>
                <c:formatCode>"₹"\ #,##0.00</c:formatCode>
                <c:ptCount val="2"/>
                <c:pt idx="0">
                  <c:v>168492.63200000016</c:v>
                </c:pt>
                <c:pt idx="1">
                  <c:v>45494.683333333342</c:v>
                </c:pt>
              </c:numCache>
            </c:numRef>
          </c:val>
          <c:extLst>
            <c:ext xmlns:c16="http://schemas.microsoft.com/office/drawing/2014/chart" uri="{C3380CC4-5D6E-409C-BE32-E72D297353CC}">
              <c16:uniqueId val="{00000005-007B-4ED5-865E-6141C550A532}"/>
            </c:ext>
          </c:extLst>
        </c:ser>
        <c:dLbls>
          <c:showLegendKey val="0"/>
          <c:showVal val="0"/>
          <c:showCatName val="0"/>
          <c:showSerName val="0"/>
          <c:showPercent val="0"/>
          <c:showBubbleSize val="0"/>
        </c:dLbls>
        <c:gapWidth val="236"/>
        <c:shape val="box"/>
        <c:axId val="1600427040"/>
        <c:axId val="1600425792"/>
        <c:axId val="0"/>
      </c:bar3DChart>
      <c:catAx>
        <c:axId val="160042704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600425792"/>
        <c:crosses val="autoZero"/>
        <c:auto val="1"/>
        <c:lblAlgn val="ctr"/>
        <c:lblOffset val="100"/>
        <c:noMultiLvlLbl val="0"/>
      </c:catAx>
      <c:valAx>
        <c:axId val="1600425792"/>
        <c:scaling>
          <c:orientation val="minMax"/>
        </c:scaling>
        <c:delete val="0"/>
        <c:axPos val="l"/>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6004270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Segoe UI" panose="020B0502040204020203" pitchFamily="34" charset="0"/>
          <a:cs typeface="Segoe UI" panose="020B0502040204020203"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[AstroSage_analysis.xlsx]Prep!PivotTable7</c:name>
    <c:fmtId val="33"/>
  </c:pivotSource>
  <c:chart>
    <c:title>
      <c:tx>
        <c:rich>
          <a:bodyPr rot="0" spcFirstLastPara="1" vertOverflow="ellipsis" vert="horz" wrap="square" anchor="ctr" anchorCtr="1"/>
          <a:lstStyle/>
          <a:p>
            <a:pPr>
              <a:defRPr lang="en-US" sz="1200" b="1" i="0" u="none" strike="noStrike" kern="1200" spc="0" baseline="0">
                <a:solidFill>
                  <a:schemeClr val="tx1"/>
                </a:solidFill>
                <a:latin typeface="Segoe UI" panose="020B0502040204020203" pitchFamily="34" charset="0"/>
                <a:ea typeface="+mn-ea"/>
                <a:cs typeface="Segoe UI" panose="020B0502040204020203" pitchFamily="34" charset="0"/>
              </a:defRPr>
            </a:pPr>
            <a:r>
              <a:rPr lang="en-IN" b="1">
                <a:solidFill>
                  <a:schemeClr val="tx1"/>
                </a:solidFill>
              </a:rPr>
              <a:t>Hourly Call volume</a:t>
            </a:r>
          </a:p>
        </c:rich>
      </c:tx>
      <c:overlay val="0"/>
      <c:spPr>
        <a:noFill/>
        <a:ln>
          <a:noFill/>
        </a:ln>
        <a:effectLst/>
      </c:spPr>
      <c:txPr>
        <a:bodyPr rot="0" spcFirstLastPara="1" vertOverflow="ellipsis" vert="horz" wrap="square" anchor="ctr" anchorCtr="1"/>
        <a:lstStyle/>
        <a:p>
          <a:pPr>
            <a:defRPr lang="en-US" sz="1200" b="1" i="0" u="none" strike="noStrike" kern="1200" spc="0" baseline="0">
              <a:solidFill>
                <a:schemeClr val="tx1"/>
              </a:solidFill>
              <a:latin typeface="Segoe UI" panose="020B0502040204020203" pitchFamily="34" charset="0"/>
              <a:ea typeface="+mn-ea"/>
              <a:cs typeface="Segoe UI" panose="020B0502040204020203" pitchFamily="34" charset="0"/>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Prep!$H$9</c:f>
              <c:strCache>
                <c:ptCount val="1"/>
                <c:pt idx="0">
                  <c:v>Total</c:v>
                </c:pt>
              </c:strCache>
            </c:strRef>
          </c:tx>
          <c:spPr>
            <a:solidFill>
              <a:schemeClr val="accent4"/>
            </a:solidFill>
            <a:ln>
              <a:noFill/>
            </a:ln>
            <a:effectLst/>
            <a:sp3d/>
          </c:spPr>
          <c:invertIfNegative val="0"/>
          <c:dLbls>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Prep!$G$10:$G$16</c:f>
              <c:strCache>
                <c:ptCount val="6"/>
                <c:pt idx="0">
                  <c:v>0-3</c:v>
                </c:pt>
                <c:pt idx="1">
                  <c:v>4-7</c:v>
                </c:pt>
                <c:pt idx="2">
                  <c:v>8-11</c:v>
                </c:pt>
                <c:pt idx="3">
                  <c:v>12-15</c:v>
                </c:pt>
                <c:pt idx="4">
                  <c:v>16-19</c:v>
                </c:pt>
                <c:pt idx="5">
                  <c:v>20-23</c:v>
                </c:pt>
              </c:strCache>
            </c:strRef>
          </c:cat>
          <c:val>
            <c:numRef>
              <c:f>Prep!$H$10:$H$16</c:f>
              <c:numCache>
                <c:formatCode>General</c:formatCode>
                <c:ptCount val="6"/>
                <c:pt idx="0">
                  <c:v>513</c:v>
                </c:pt>
                <c:pt idx="1">
                  <c:v>1889</c:v>
                </c:pt>
                <c:pt idx="2">
                  <c:v>2278</c:v>
                </c:pt>
                <c:pt idx="3">
                  <c:v>1930</c:v>
                </c:pt>
                <c:pt idx="4">
                  <c:v>1341</c:v>
                </c:pt>
                <c:pt idx="5">
                  <c:v>414</c:v>
                </c:pt>
              </c:numCache>
            </c:numRef>
          </c:val>
          <c:extLst>
            <c:ext xmlns:c16="http://schemas.microsoft.com/office/drawing/2014/chart" uri="{C3380CC4-5D6E-409C-BE32-E72D297353CC}">
              <c16:uniqueId val="{00000000-BDBE-4823-8FA7-B30FD159B957}"/>
            </c:ext>
          </c:extLst>
        </c:ser>
        <c:dLbls>
          <c:showLegendKey val="0"/>
          <c:showVal val="1"/>
          <c:showCatName val="0"/>
          <c:showSerName val="0"/>
          <c:showPercent val="0"/>
          <c:showBubbleSize val="0"/>
        </c:dLbls>
        <c:gapWidth val="277"/>
        <c:shape val="box"/>
        <c:axId val="1603811439"/>
        <c:axId val="1603812687"/>
        <c:axId val="0"/>
      </c:bar3DChart>
      <c:catAx>
        <c:axId val="1603811439"/>
        <c:scaling>
          <c:orientation val="minMax"/>
        </c:scaling>
        <c:delete val="0"/>
        <c:axPos val="b"/>
        <c:title>
          <c:tx>
            <c:rich>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r>
                  <a:rPr lang="en-IN"/>
                  <a:t>Hour</a:t>
                </a:r>
              </a:p>
            </c:rich>
          </c:tx>
          <c:overlay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603812687"/>
        <c:crosses val="autoZero"/>
        <c:auto val="1"/>
        <c:lblAlgn val="ctr"/>
        <c:lblOffset val="100"/>
        <c:noMultiLvlLbl val="0"/>
      </c:catAx>
      <c:valAx>
        <c:axId val="1603812687"/>
        <c:scaling>
          <c:orientation val="minMax"/>
        </c:scaling>
        <c:delete val="0"/>
        <c:axPos val="l"/>
        <c:title>
          <c:tx>
            <c:rich>
              <a:bodyPr rot="-540000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r>
                  <a:rPr lang="en-US"/>
                  <a:t>ID</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60381143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[AstroSage_analysis.xlsx]Subjective| Q 1!PivotTable8</c:name>
    <c:fmtId val="60"/>
  </c:pivotSource>
  <c:chart>
    <c:title>
      <c:tx>
        <c:rich>
          <a:bodyPr rot="0" spcFirstLastPara="1" vertOverflow="ellipsis" vert="horz" wrap="square" anchor="ctr" anchorCtr="1"/>
          <a:lstStyle/>
          <a:p>
            <a:pPr>
              <a:defRPr lang="en-US" sz="1200" b="0" i="0" u="none" strike="noStrike" kern="1200" baseline="0">
                <a:solidFill>
                  <a:schemeClr val="tx1"/>
                </a:solidFill>
                <a:latin typeface="Segoe UI" panose="020B0502040204020203" pitchFamily="34" charset="0"/>
                <a:ea typeface="+mn-ea"/>
                <a:cs typeface="Segoe UI" panose="020B0502040204020203" pitchFamily="34" charset="0"/>
              </a:defRPr>
            </a:pPr>
            <a:r>
              <a:rPr lang="en-US"/>
              <a:t>Call Status Distribution </a:t>
            </a:r>
          </a:p>
        </c:rich>
      </c:tx>
      <c:overlay val="0"/>
      <c:spPr>
        <a:noFill/>
        <a:ln>
          <a:noFill/>
        </a:ln>
        <a:effectLst/>
      </c:spPr>
      <c:txPr>
        <a:bodyPr rot="0" spcFirstLastPara="1" vertOverflow="ellipsis" vert="horz" wrap="square" anchor="ctr" anchorCtr="1"/>
        <a:lstStyle/>
        <a:p>
          <a:pPr>
            <a:defRPr lang="en-US" sz="12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pivotFmt>
      <c:pivotFmt>
        <c:idx val="2"/>
        <c:spPr>
          <a:solidFill>
            <a:schemeClr val="accent1"/>
          </a:solidFill>
          <a:ln>
            <a:noFill/>
          </a:ln>
          <a:effectLst>
            <a:outerShdw blurRad="254000" sx="102000" sy="102000" algn="ctr" rotWithShape="0">
              <a:prstClr val="black">
                <a:alpha val="20000"/>
              </a:prstClr>
            </a:outerShdw>
          </a:effectLst>
          <a:sp3d/>
        </c:spPr>
      </c:pivotFmt>
      <c:pivotFmt>
        <c:idx val="3"/>
        <c:spPr>
          <a:solidFill>
            <a:schemeClr val="accent1"/>
          </a:solidFill>
          <a:ln>
            <a:noFill/>
          </a:ln>
          <a:effectLst>
            <a:outerShdw blurRad="254000" sx="102000" sy="102000" algn="ctr" rotWithShape="0">
              <a:prstClr val="black">
                <a:alpha val="20000"/>
              </a:prstClr>
            </a:outerShdw>
          </a:effectLst>
          <a:sp3d/>
        </c:spPr>
      </c:pivotFmt>
      <c:pivotFmt>
        <c:idx val="4"/>
        <c:spPr>
          <a:solidFill>
            <a:schemeClr val="accent1"/>
          </a:solidFill>
          <a:ln>
            <a:noFill/>
          </a:ln>
          <a:effectLst>
            <a:outerShdw blurRad="254000" sx="102000" sy="102000" algn="ctr" rotWithShape="0">
              <a:prstClr val="black">
                <a:alpha val="20000"/>
              </a:prstClr>
            </a:outerShdw>
          </a:effectLst>
          <a:sp3d/>
        </c:spPr>
      </c:pivotFmt>
      <c:pivotFmt>
        <c:idx val="5"/>
        <c:spPr>
          <a:solidFill>
            <a:schemeClr val="accent1"/>
          </a:solidFill>
          <a:ln>
            <a:noFill/>
          </a:ln>
          <a:effectLst>
            <a:outerShdw blurRad="254000" sx="102000" sy="102000" algn="ctr" rotWithShape="0">
              <a:prstClr val="black">
                <a:alpha val="20000"/>
              </a:prstClr>
            </a:outerShdw>
          </a:effectLst>
          <a:sp3d/>
        </c:spPr>
      </c:pivotFmt>
      <c:pivotFmt>
        <c:idx val="6"/>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a:outerShdw blurRad="254000" sx="102000" sy="102000" algn="ctr" rotWithShape="0">
              <a:prstClr val="black">
                <a:alpha val="20000"/>
              </a:prstClr>
            </a:outerShdw>
          </a:effectLst>
          <a:sp3d/>
        </c:spPr>
      </c:pivotFmt>
      <c:pivotFmt>
        <c:idx val="8"/>
        <c:spPr>
          <a:solidFill>
            <a:schemeClr val="accent1"/>
          </a:solidFill>
          <a:ln>
            <a:noFill/>
          </a:ln>
          <a:effectLst>
            <a:outerShdw blurRad="254000" sx="102000" sy="102000" algn="ctr" rotWithShape="0">
              <a:prstClr val="black">
                <a:alpha val="20000"/>
              </a:prstClr>
            </a:outerShdw>
          </a:effectLst>
          <a:sp3d/>
        </c:spPr>
      </c:pivotFmt>
      <c:pivotFmt>
        <c:idx val="9"/>
        <c:spPr>
          <a:solidFill>
            <a:schemeClr val="accent1"/>
          </a:solidFill>
          <a:ln>
            <a:noFill/>
          </a:ln>
          <a:effectLst>
            <a:outerShdw blurRad="254000" sx="102000" sy="102000" algn="ctr" rotWithShape="0">
              <a:prstClr val="black">
                <a:alpha val="20000"/>
              </a:prstClr>
            </a:outerShdw>
          </a:effectLst>
          <a:sp3d/>
        </c:spPr>
      </c:pivotFmt>
      <c:pivotFmt>
        <c:idx val="10"/>
        <c:spPr>
          <a:solidFill>
            <a:schemeClr val="accent1"/>
          </a:solidFill>
          <a:ln>
            <a:noFill/>
          </a:ln>
          <a:effectLst>
            <a:outerShdw blurRad="254000" sx="102000" sy="102000" algn="ctr" rotWithShape="0">
              <a:prstClr val="black">
                <a:alpha val="20000"/>
              </a:prstClr>
            </a:outerShdw>
          </a:effectLst>
          <a:sp3d/>
        </c:spPr>
      </c:pivotFmt>
      <c:pivotFmt>
        <c:idx val="11"/>
        <c:spPr>
          <a:solidFill>
            <a:schemeClr val="accent1"/>
          </a:solidFill>
          <a:ln>
            <a:noFill/>
          </a:ln>
          <a:effectLst>
            <a:outerShdw blurRad="254000" sx="102000" sy="102000" algn="ctr" rotWithShape="0">
              <a:prstClr val="black">
                <a:alpha val="20000"/>
              </a:prstClr>
            </a:outerShdw>
          </a:effectLst>
          <a:sp3d/>
        </c:spPr>
      </c:pivotFmt>
      <c:pivotFmt>
        <c:idx val="12"/>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1"/>
          </a:solidFill>
          <a:ln>
            <a:noFill/>
          </a:ln>
          <a:effectLst>
            <a:outerShdw blurRad="254000" sx="102000" sy="102000" algn="ctr" rotWithShape="0">
              <a:prstClr val="black">
                <a:alpha val="20000"/>
              </a:prstClr>
            </a:outerShdw>
          </a:effectLst>
          <a:sp3d/>
        </c:spPr>
      </c:pivotFmt>
      <c:pivotFmt>
        <c:idx val="14"/>
        <c:spPr>
          <a:solidFill>
            <a:schemeClr val="accent1"/>
          </a:solidFill>
          <a:ln>
            <a:noFill/>
          </a:ln>
          <a:effectLst>
            <a:outerShdw blurRad="254000" sx="102000" sy="102000" algn="ctr" rotWithShape="0">
              <a:prstClr val="black">
                <a:alpha val="20000"/>
              </a:prstClr>
            </a:outerShdw>
          </a:effectLst>
          <a:sp3d/>
        </c:spPr>
      </c:pivotFmt>
      <c:pivotFmt>
        <c:idx val="15"/>
        <c:spPr>
          <a:solidFill>
            <a:schemeClr val="accent1"/>
          </a:solidFill>
          <a:ln>
            <a:noFill/>
          </a:ln>
          <a:effectLst>
            <a:outerShdw blurRad="254000" sx="102000" sy="102000" algn="ctr" rotWithShape="0">
              <a:prstClr val="black">
                <a:alpha val="20000"/>
              </a:prstClr>
            </a:outerShdw>
          </a:effectLst>
          <a:sp3d/>
        </c:spPr>
      </c:pivotFmt>
      <c:pivotFmt>
        <c:idx val="16"/>
        <c:spPr>
          <a:solidFill>
            <a:schemeClr val="accent1"/>
          </a:solidFill>
          <a:ln>
            <a:noFill/>
          </a:ln>
          <a:effectLst>
            <a:outerShdw blurRad="254000" sx="102000" sy="102000" algn="ctr" rotWithShape="0">
              <a:prstClr val="black">
                <a:alpha val="20000"/>
              </a:prstClr>
            </a:outerShdw>
          </a:effectLst>
          <a:sp3d/>
        </c:spPr>
      </c:pivotFmt>
      <c:pivotFmt>
        <c:idx val="17"/>
        <c:spPr>
          <a:solidFill>
            <a:schemeClr val="accent1"/>
          </a:solidFill>
          <a:ln>
            <a:noFill/>
          </a:ln>
          <a:effectLst>
            <a:outerShdw blurRad="254000" sx="102000" sy="102000" algn="ctr" rotWithShape="0">
              <a:prstClr val="black">
                <a:alpha val="20000"/>
              </a:prstClr>
            </a:outerShdw>
          </a:effectLst>
          <a:sp3d/>
        </c:spPr>
      </c:pivotFmt>
      <c:pivotFmt>
        <c:idx val="18"/>
        <c:spPr>
          <a:solidFill>
            <a:schemeClr val="accent1"/>
          </a:solidFill>
          <a:ln>
            <a:noFill/>
          </a:ln>
          <a:effectLst>
            <a:outerShdw blurRad="254000" sx="102000" sy="102000" algn="ctr" rotWithShape="0">
              <a:prstClr val="black">
                <a:alpha val="20000"/>
              </a:prstClr>
            </a:outerShdw>
          </a:effectLst>
          <a:sp3d/>
        </c:spPr>
        <c:marker>
          <c:symbol val="none"/>
        </c:marke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9"/>
        <c:spPr>
          <a:solidFill>
            <a:schemeClr val="accent1"/>
          </a:solidFill>
          <a:ln>
            <a:noFill/>
          </a:ln>
          <a:effectLst>
            <a:outerShdw blurRad="254000" sx="102000" sy="102000" algn="ctr" rotWithShape="0">
              <a:prstClr val="black">
                <a:alpha val="20000"/>
              </a:prstClr>
            </a:outerShdw>
          </a:effectLst>
          <a:sp3d/>
        </c:spPr>
      </c:pivotFmt>
      <c:pivotFmt>
        <c:idx val="20"/>
        <c:spPr>
          <a:solidFill>
            <a:schemeClr val="accent1"/>
          </a:solidFill>
          <a:ln>
            <a:noFill/>
          </a:ln>
          <a:effectLst>
            <a:outerShdw blurRad="254000" sx="102000" sy="102000" algn="ctr" rotWithShape="0">
              <a:prstClr val="black">
                <a:alpha val="20000"/>
              </a:prstClr>
            </a:outerShdw>
          </a:effectLst>
          <a:sp3d/>
        </c:spPr>
      </c:pivotFmt>
      <c:pivotFmt>
        <c:idx val="21"/>
        <c:spPr>
          <a:solidFill>
            <a:schemeClr val="accent1"/>
          </a:solidFill>
          <a:ln>
            <a:noFill/>
          </a:ln>
          <a:effectLst>
            <a:outerShdw blurRad="254000" sx="102000" sy="102000" algn="ctr" rotWithShape="0">
              <a:prstClr val="black">
                <a:alpha val="20000"/>
              </a:prstClr>
            </a:outerShdw>
          </a:effectLst>
          <a:sp3d/>
        </c:spPr>
      </c:pivotFmt>
      <c:pivotFmt>
        <c:idx val="22"/>
        <c:spPr>
          <a:solidFill>
            <a:schemeClr val="accent1"/>
          </a:solidFill>
          <a:ln>
            <a:noFill/>
          </a:ln>
          <a:effectLst>
            <a:outerShdw blurRad="254000" sx="102000" sy="102000" algn="ctr" rotWithShape="0">
              <a:prstClr val="black">
                <a:alpha val="20000"/>
              </a:prstClr>
            </a:outerShdw>
          </a:effectLst>
          <a:sp3d/>
        </c:spPr>
      </c:pivotFmt>
      <c:pivotFmt>
        <c:idx val="23"/>
        <c:spPr>
          <a:solidFill>
            <a:schemeClr val="accent1"/>
          </a:solidFill>
          <a:ln>
            <a:noFill/>
          </a:ln>
          <a:effectLst>
            <a:outerShdw blurRad="254000" sx="102000" sy="102000" algn="ctr" rotWithShape="0">
              <a:prstClr val="black">
                <a:alpha val="20000"/>
              </a:prstClr>
            </a:outerShdw>
          </a:effectLst>
          <a:sp3d/>
        </c:spPr>
      </c:pivotFmt>
      <c:pivotFmt>
        <c:idx val="24"/>
        <c:spPr>
          <a:solidFill>
            <a:schemeClr val="accent1"/>
          </a:solidFill>
          <a:ln>
            <a:noFill/>
          </a:ln>
          <a:effectLst>
            <a:outerShdw blurRad="254000" sx="102000" sy="102000" algn="ctr" rotWithShape="0">
              <a:prstClr val="black">
                <a:alpha val="20000"/>
              </a:prstClr>
            </a:outerShdw>
          </a:effectLst>
          <a:sp3d/>
        </c:spPr>
        <c:marker>
          <c:symbol val="none"/>
        </c:marke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5"/>
        <c:spPr>
          <a:solidFill>
            <a:schemeClr val="accent1"/>
          </a:solidFill>
          <a:ln>
            <a:noFill/>
          </a:ln>
          <a:effectLst>
            <a:outerShdw blurRad="254000" sx="102000" sy="102000" algn="ctr" rotWithShape="0">
              <a:prstClr val="black">
                <a:alpha val="20000"/>
              </a:prstClr>
            </a:outerShdw>
          </a:effectLst>
          <a:sp3d/>
        </c:spPr>
      </c:pivotFmt>
      <c:pivotFmt>
        <c:idx val="26"/>
        <c:spPr>
          <a:solidFill>
            <a:schemeClr val="accent1"/>
          </a:solidFill>
          <a:ln>
            <a:noFill/>
          </a:ln>
          <a:effectLst>
            <a:outerShdw blurRad="254000" sx="102000" sy="102000" algn="ctr" rotWithShape="0">
              <a:prstClr val="black">
                <a:alpha val="20000"/>
              </a:prstClr>
            </a:outerShdw>
          </a:effectLst>
          <a:sp3d/>
        </c:spPr>
      </c:pivotFmt>
      <c:pivotFmt>
        <c:idx val="27"/>
        <c:spPr>
          <a:solidFill>
            <a:schemeClr val="accent1"/>
          </a:solidFill>
          <a:ln>
            <a:noFill/>
          </a:ln>
          <a:effectLst>
            <a:outerShdw blurRad="254000" sx="102000" sy="102000" algn="ctr" rotWithShape="0">
              <a:prstClr val="black">
                <a:alpha val="20000"/>
              </a:prstClr>
            </a:outerShdw>
          </a:effectLst>
          <a:sp3d/>
        </c:spPr>
      </c:pivotFmt>
      <c:pivotFmt>
        <c:idx val="28"/>
        <c:spPr>
          <a:solidFill>
            <a:schemeClr val="accent1"/>
          </a:solidFill>
          <a:ln>
            <a:noFill/>
          </a:ln>
          <a:effectLst>
            <a:outerShdw blurRad="254000" sx="102000" sy="102000" algn="ctr" rotWithShape="0">
              <a:prstClr val="black">
                <a:alpha val="20000"/>
              </a:prstClr>
            </a:outerShdw>
          </a:effectLst>
          <a:sp3d/>
        </c:spPr>
      </c:pivotFmt>
      <c:pivotFmt>
        <c:idx val="29"/>
        <c:spPr>
          <a:solidFill>
            <a:schemeClr val="accent1"/>
          </a:solidFill>
          <a:ln>
            <a:noFill/>
          </a:ln>
          <a:effectLst>
            <a:outerShdw blurRad="254000" sx="102000" sy="102000" algn="ctr" rotWithShape="0">
              <a:prstClr val="black">
                <a:alpha val="20000"/>
              </a:prstClr>
            </a:outerShdw>
          </a:effectLst>
          <a:sp3d/>
        </c:spPr>
      </c:pivotFmt>
      <c:pivotFmt>
        <c:idx val="30"/>
        <c:spPr>
          <a:solidFill>
            <a:schemeClr val="accent1"/>
          </a:solidFill>
          <a:ln>
            <a:noFill/>
          </a:ln>
          <a:effectLst>
            <a:outerShdw blurRad="254000" sx="102000" sy="102000" algn="ctr" rotWithShape="0">
              <a:prstClr val="black">
                <a:alpha val="20000"/>
              </a:prstClr>
            </a:outerShdw>
          </a:effectLst>
          <a:sp3d/>
        </c:spPr>
        <c:marker>
          <c:symbol val="none"/>
        </c:marke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31"/>
        <c:spPr>
          <a:solidFill>
            <a:schemeClr val="accent1"/>
          </a:solidFill>
          <a:ln>
            <a:noFill/>
          </a:ln>
          <a:effectLst>
            <a:outerShdw blurRad="254000" sx="102000" sy="102000" algn="ctr" rotWithShape="0">
              <a:prstClr val="black">
                <a:alpha val="20000"/>
              </a:prstClr>
            </a:outerShdw>
          </a:effectLst>
          <a:sp3d/>
        </c:spPr>
      </c:pivotFmt>
      <c:pivotFmt>
        <c:idx val="32"/>
        <c:spPr>
          <a:solidFill>
            <a:schemeClr val="accent1"/>
          </a:solidFill>
          <a:ln>
            <a:noFill/>
          </a:ln>
          <a:effectLst>
            <a:outerShdw blurRad="254000" sx="102000" sy="102000" algn="ctr" rotWithShape="0">
              <a:prstClr val="black">
                <a:alpha val="20000"/>
              </a:prstClr>
            </a:outerShdw>
          </a:effectLst>
          <a:sp3d/>
        </c:spPr>
      </c:pivotFmt>
      <c:pivotFmt>
        <c:idx val="33"/>
        <c:spPr>
          <a:solidFill>
            <a:schemeClr val="accent1"/>
          </a:solidFill>
          <a:ln>
            <a:noFill/>
          </a:ln>
          <a:effectLst>
            <a:outerShdw blurRad="254000" sx="102000" sy="102000" algn="ctr" rotWithShape="0">
              <a:prstClr val="black">
                <a:alpha val="20000"/>
              </a:prstClr>
            </a:outerShdw>
          </a:effectLst>
          <a:sp3d/>
        </c:spPr>
      </c:pivotFmt>
      <c:pivotFmt>
        <c:idx val="34"/>
        <c:spPr>
          <a:solidFill>
            <a:schemeClr val="accent1"/>
          </a:solidFill>
          <a:ln>
            <a:noFill/>
          </a:ln>
          <a:effectLst>
            <a:outerShdw blurRad="254000" sx="102000" sy="102000" algn="ctr" rotWithShape="0">
              <a:prstClr val="black">
                <a:alpha val="20000"/>
              </a:prstClr>
            </a:outerShdw>
          </a:effectLst>
          <a:sp3d/>
        </c:spPr>
      </c:pivotFmt>
      <c:pivotFmt>
        <c:idx val="35"/>
        <c:spPr>
          <a:solidFill>
            <a:schemeClr val="accent1"/>
          </a:solidFill>
          <a:ln>
            <a:noFill/>
          </a:ln>
          <a:effectLst>
            <a:outerShdw blurRad="254000" sx="102000" sy="102000" algn="ctr" rotWithShape="0">
              <a:prstClr val="black">
                <a:alpha val="20000"/>
              </a:prstClr>
            </a:outerShdw>
          </a:effectLst>
          <a:sp3d/>
        </c:spPr>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'Subjective| Q 1'!$J$7</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B210-44C4-BE31-3146B2D8594D}"/>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B210-44C4-BE31-3146B2D8594D}"/>
              </c:ext>
            </c:extLst>
          </c:dPt>
          <c:dPt>
            <c:idx val="2"/>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5-B210-44C4-BE31-3146B2D8594D}"/>
              </c:ext>
            </c:extLst>
          </c:dPt>
          <c:dPt>
            <c:idx val="3"/>
            <c:bubble3D val="0"/>
            <c:spPr>
              <a:solidFill>
                <a:schemeClr val="accent4"/>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7-B210-44C4-BE31-3146B2D8594D}"/>
              </c:ext>
            </c:extLst>
          </c:dPt>
          <c:dPt>
            <c:idx val="4"/>
            <c:bubble3D val="0"/>
            <c:spPr>
              <a:solidFill>
                <a:schemeClr val="accent5"/>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9-B210-44C4-BE31-3146B2D8594D}"/>
              </c:ext>
            </c:extLst>
          </c:dPt>
          <c:dLbls>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'Subjective| Q 1'!$I$8:$I$13</c:f>
              <c:strCache>
                <c:ptCount val="5"/>
                <c:pt idx="0">
                  <c:v>Busy</c:v>
                </c:pt>
                <c:pt idx="1">
                  <c:v>Completed</c:v>
                </c:pt>
                <c:pt idx="2">
                  <c:v>Failed</c:v>
                </c:pt>
                <c:pt idx="3">
                  <c:v>Incomplete</c:v>
                </c:pt>
                <c:pt idx="4">
                  <c:v>No-answer</c:v>
                </c:pt>
              </c:strCache>
            </c:strRef>
          </c:cat>
          <c:val>
            <c:numRef>
              <c:f>'Subjective| Q 1'!$J$8:$J$13</c:f>
              <c:numCache>
                <c:formatCode>General</c:formatCode>
                <c:ptCount val="5"/>
                <c:pt idx="0">
                  <c:v>1270</c:v>
                </c:pt>
                <c:pt idx="1">
                  <c:v>3453</c:v>
                </c:pt>
                <c:pt idx="2">
                  <c:v>1214</c:v>
                </c:pt>
                <c:pt idx="3">
                  <c:v>875</c:v>
                </c:pt>
                <c:pt idx="4">
                  <c:v>1729</c:v>
                </c:pt>
              </c:numCache>
            </c:numRef>
          </c:val>
          <c:extLst>
            <c:ext xmlns:c16="http://schemas.microsoft.com/office/drawing/2014/chart" uri="{C3380CC4-5D6E-409C-BE32-E72D297353CC}">
              <c16:uniqueId val="{0000000A-B210-44C4-BE31-3146B2D8594D}"/>
            </c:ext>
          </c:extLst>
        </c:ser>
        <c:dLbls>
          <c:dLblPos val="ctr"/>
          <c:showLegendKey val="0"/>
          <c:showVal val="0"/>
          <c:showCatName val="0"/>
          <c:showSerName val="0"/>
          <c:showPercent val="1"/>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[AstroSage_analysis.xlsx]Subjective| Q 1!PivotTable11</c:name>
    <c:fmtId val="33"/>
  </c:pivotSource>
  <c:chart>
    <c:title>
      <c:tx>
        <c:rich>
          <a:bodyPr rot="0" spcFirstLastPara="1" vertOverflow="ellipsis" vert="horz" wrap="square" anchor="ctr" anchorCtr="1"/>
          <a:lstStyle/>
          <a:p>
            <a:pPr>
              <a:defRPr lang="en-US" sz="1200" b="0" i="0" u="none" strike="noStrike" kern="1200" baseline="0">
                <a:solidFill>
                  <a:schemeClr val="tx1"/>
                </a:solidFill>
                <a:latin typeface="Segoe UI" panose="020B0502040204020203" pitchFamily="34" charset="0"/>
                <a:ea typeface="+mn-ea"/>
                <a:cs typeface="Segoe UI" panose="020B0502040204020203" pitchFamily="34" charset="0"/>
              </a:defRPr>
            </a:pPr>
            <a:r>
              <a:rPr lang="en-US"/>
              <a:t>Chat Status Distribution</a:t>
            </a:r>
          </a:p>
        </c:rich>
      </c:tx>
      <c:overlay val="0"/>
      <c:spPr>
        <a:noFill/>
        <a:ln>
          <a:noFill/>
        </a:ln>
        <a:effectLst/>
      </c:spPr>
      <c:txPr>
        <a:bodyPr rot="0" spcFirstLastPara="1" vertOverflow="ellipsis" vert="horz" wrap="square" anchor="ctr" anchorCtr="1"/>
        <a:lstStyle/>
        <a:p>
          <a:pPr>
            <a:defRPr lang="en-US" sz="12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a:sp3d/>
        </c:spP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a:sp3d/>
        </c:spP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outerShdw blurRad="254000" sx="102000" sy="102000" algn="ctr" rotWithShape="0">
              <a:prstClr val="black">
                <a:alpha val="20000"/>
              </a:prstClr>
            </a:outerShdw>
          </a:effectLst>
          <a:sp3d/>
        </c:spPr>
      </c:pivotFmt>
      <c:pivotFmt>
        <c:idx val="4"/>
        <c:spPr>
          <a:solidFill>
            <a:schemeClr val="accent1"/>
          </a:solidFill>
          <a:ln>
            <a:noFill/>
          </a:ln>
          <a:effectLst>
            <a:outerShdw blurRad="254000" sx="102000" sy="102000" algn="ctr" rotWithShape="0">
              <a:prstClr val="black">
                <a:alpha val="20000"/>
              </a:prstClr>
            </a:outerShdw>
          </a:effectLst>
          <a:sp3d/>
        </c:spPr>
      </c:pivotFmt>
      <c:pivotFmt>
        <c:idx val="5"/>
        <c:spPr>
          <a:solidFill>
            <a:schemeClr val="accent1"/>
          </a:solidFill>
          <a:ln>
            <a:noFill/>
          </a:ln>
          <a:effectLst>
            <a:outerShdw blurRad="254000" sx="102000" sy="102000" algn="ctr" rotWithShape="0">
              <a:prstClr val="black">
                <a:alpha val="20000"/>
              </a:prstClr>
            </a:outerShdw>
          </a:effectLst>
          <a:sp3d/>
        </c:spPr>
      </c:pivotFmt>
      <c:pivotFmt>
        <c:idx val="6"/>
        <c:spPr>
          <a:solidFill>
            <a:schemeClr val="accent1"/>
          </a:solidFill>
          <a:ln>
            <a:noFill/>
          </a:ln>
          <a:effectLst>
            <a:outerShdw blurRad="254000" sx="102000" sy="102000" algn="ctr" rotWithShape="0">
              <a:prstClr val="black">
                <a:alpha val="20000"/>
              </a:prstClr>
            </a:outerShdw>
          </a:effectLst>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a:noFill/>
          </a:ln>
          <a:effectLst>
            <a:outerShdw blurRad="254000" sx="102000" sy="102000" algn="ctr" rotWithShape="0">
              <a:prstClr val="black">
                <a:alpha val="20000"/>
              </a:prstClr>
            </a:outerShdw>
          </a:effectLst>
          <a:sp3d/>
        </c:spPr>
      </c:pivotFmt>
      <c:pivotFmt>
        <c:idx val="8"/>
        <c:spPr>
          <a:solidFill>
            <a:schemeClr val="accent1"/>
          </a:solidFill>
          <a:ln>
            <a:noFill/>
          </a:ln>
          <a:effectLst>
            <a:outerShdw blurRad="254000" sx="102000" sy="102000" algn="ctr" rotWithShape="0">
              <a:prstClr val="black">
                <a:alpha val="20000"/>
              </a:prstClr>
            </a:outerShdw>
          </a:effectLst>
          <a:sp3d/>
        </c:spPr>
      </c:pivotFmt>
      <c:pivotFmt>
        <c:idx val="9"/>
        <c:spPr>
          <a:solidFill>
            <a:schemeClr val="accent1"/>
          </a:solidFill>
          <a:ln>
            <a:noFill/>
          </a:ln>
          <a:effectLst>
            <a:outerShdw blurRad="254000" sx="102000" sy="102000" algn="ctr" rotWithShape="0">
              <a:prstClr val="black">
                <a:alpha val="20000"/>
              </a:prstClr>
            </a:outerShdw>
          </a:effectLst>
          <a:sp3d/>
        </c:spPr>
      </c:pivotFmt>
      <c:pivotFmt>
        <c:idx val="10"/>
        <c:spPr>
          <a:solidFill>
            <a:schemeClr val="accent1"/>
          </a:solidFill>
          <a:ln>
            <a:noFill/>
          </a:ln>
          <a:effectLst>
            <a:outerShdw blurRad="254000" sx="102000" sy="102000" algn="ctr" rotWithShape="0">
              <a:prstClr val="black">
                <a:alpha val="20000"/>
              </a:prstClr>
            </a:outerShdw>
          </a:effectLst>
          <a:sp3d/>
        </c:spP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outerShdw blurRad="254000" sx="102000" sy="102000" algn="ctr" rotWithShape="0">
              <a:prstClr val="black">
                <a:alpha val="20000"/>
              </a:prstClr>
            </a:outerShdw>
          </a:effectLst>
          <a:sp3d/>
        </c:spP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outerShdw blurRad="254000" sx="102000" sy="102000" algn="ctr" rotWithShape="0">
              <a:prstClr val="black">
                <a:alpha val="20000"/>
              </a:prstClr>
            </a:outerShdw>
          </a:effectLst>
          <a:sp3d/>
        </c:spPr>
        <c:marker>
          <c:symbol val="none"/>
        </c:marke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1"/>
          </a:solidFill>
          <a:ln>
            <a:noFill/>
          </a:ln>
          <a:effectLst>
            <a:outerShdw blurRad="254000" sx="102000" sy="102000" algn="ctr" rotWithShape="0">
              <a:prstClr val="black">
                <a:alpha val="20000"/>
              </a:prstClr>
            </a:outerShdw>
          </a:effectLst>
          <a:sp3d/>
        </c:spPr>
      </c:pivotFmt>
      <c:pivotFmt>
        <c:idx val="14"/>
        <c:spPr>
          <a:solidFill>
            <a:schemeClr val="accent1"/>
          </a:solidFill>
          <a:ln>
            <a:noFill/>
          </a:ln>
          <a:effectLst>
            <a:outerShdw blurRad="254000" sx="102000" sy="102000" algn="ctr" rotWithShape="0">
              <a:prstClr val="black">
                <a:alpha val="20000"/>
              </a:prstClr>
            </a:outerShdw>
          </a:effectLst>
          <a:sp3d/>
        </c:spPr>
      </c:pivotFmt>
      <c:pivotFmt>
        <c:idx val="15"/>
        <c:spPr>
          <a:solidFill>
            <a:schemeClr val="accent1"/>
          </a:solidFill>
          <a:ln>
            <a:noFill/>
          </a:ln>
          <a:effectLst>
            <a:outerShdw blurRad="254000" sx="102000" sy="102000" algn="ctr" rotWithShape="0">
              <a:prstClr val="black">
                <a:alpha val="20000"/>
              </a:prstClr>
            </a:outerShdw>
          </a:effectLst>
          <a:sp3d/>
        </c:spPr>
      </c:pivotFmt>
      <c:pivotFmt>
        <c:idx val="16"/>
        <c:spPr>
          <a:solidFill>
            <a:schemeClr val="accent1"/>
          </a:solidFill>
          <a:ln>
            <a:noFill/>
          </a:ln>
          <a:effectLst>
            <a:outerShdw blurRad="254000" sx="102000" sy="102000" algn="ctr" rotWithShape="0">
              <a:prstClr val="black">
                <a:alpha val="20000"/>
              </a:prstClr>
            </a:outerShdw>
          </a:effectLst>
          <a:sp3d/>
        </c:spP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a:outerShdw blurRad="254000" sx="102000" sy="102000" algn="ctr" rotWithShape="0">
              <a:prstClr val="black">
                <a:alpha val="20000"/>
              </a:prstClr>
            </a:outerShdw>
          </a:effectLst>
          <a:sp3d/>
        </c:spP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a:outerShdw blurRad="254000" sx="102000" sy="102000" algn="ctr" rotWithShape="0">
              <a:prstClr val="black">
                <a:alpha val="20000"/>
              </a:prstClr>
            </a:outerShdw>
          </a:effectLst>
          <a:sp3d/>
        </c:spPr>
        <c:marker>
          <c:symbol val="none"/>
        </c:marke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9"/>
        <c:spPr>
          <a:solidFill>
            <a:schemeClr val="accent1"/>
          </a:solidFill>
          <a:ln>
            <a:noFill/>
          </a:ln>
          <a:effectLst>
            <a:outerShdw blurRad="254000" sx="102000" sy="102000" algn="ctr" rotWithShape="0">
              <a:prstClr val="black">
                <a:alpha val="20000"/>
              </a:prstClr>
            </a:outerShdw>
          </a:effectLst>
          <a:sp3d/>
        </c:spPr>
      </c:pivotFmt>
      <c:pivotFmt>
        <c:idx val="20"/>
        <c:spPr>
          <a:solidFill>
            <a:schemeClr val="accent1"/>
          </a:solidFill>
          <a:ln>
            <a:noFill/>
          </a:ln>
          <a:effectLst>
            <a:outerShdw blurRad="254000" sx="102000" sy="102000" algn="ctr" rotWithShape="0">
              <a:prstClr val="black">
                <a:alpha val="20000"/>
              </a:prstClr>
            </a:outerShdw>
          </a:effectLst>
          <a:sp3d/>
        </c:spPr>
      </c:pivotFmt>
      <c:pivotFmt>
        <c:idx val="21"/>
        <c:spPr>
          <a:solidFill>
            <a:schemeClr val="accent1"/>
          </a:solidFill>
          <a:ln>
            <a:noFill/>
          </a:ln>
          <a:effectLst>
            <a:outerShdw blurRad="254000" sx="102000" sy="102000" algn="ctr" rotWithShape="0">
              <a:prstClr val="black">
                <a:alpha val="20000"/>
              </a:prstClr>
            </a:outerShdw>
          </a:effectLst>
          <a:sp3d/>
        </c:spPr>
      </c:pivotFmt>
      <c:pivotFmt>
        <c:idx val="22"/>
        <c:spPr>
          <a:solidFill>
            <a:schemeClr val="accent1"/>
          </a:solidFill>
          <a:ln>
            <a:noFill/>
          </a:ln>
          <a:effectLst>
            <a:outerShdw blurRad="254000" sx="102000" sy="102000" algn="ctr" rotWithShape="0">
              <a:prstClr val="black">
                <a:alpha val="20000"/>
              </a:prstClr>
            </a:outerShdw>
          </a:effectLst>
          <a:sp3d/>
        </c:spP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a:outerShdw blurRad="254000" sx="102000" sy="102000" algn="ctr" rotWithShape="0">
              <a:prstClr val="black">
                <a:alpha val="20000"/>
              </a:prstClr>
            </a:outerShdw>
          </a:effectLst>
          <a:sp3d/>
        </c:spP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a:outerShdw blurRad="254000" sx="102000" sy="102000" algn="ctr" rotWithShape="0">
              <a:prstClr val="black">
                <a:alpha val="20000"/>
              </a:prstClr>
            </a:outerShdw>
          </a:effectLst>
          <a:sp3d/>
        </c:spPr>
        <c:marker>
          <c:symbol val="none"/>
        </c:marke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5"/>
        <c:spPr>
          <a:solidFill>
            <a:schemeClr val="accent1"/>
          </a:solidFill>
          <a:ln>
            <a:noFill/>
          </a:ln>
          <a:effectLst>
            <a:outerShdw blurRad="254000" sx="102000" sy="102000" algn="ctr" rotWithShape="0">
              <a:prstClr val="black">
                <a:alpha val="20000"/>
              </a:prstClr>
            </a:outerShdw>
          </a:effectLst>
          <a:sp3d/>
        </c:spPr>
      </c:pivotFmt>
      <c:pivotFmt>
        <c:idx val="26"/>
        <c:spPr>
          <a:solidFill>
            <a:schemeClr val="accent1"/>
          </a:solidFill>
          <a:ln>
            <a:noFill/>
          </a:ln>
          <a:effectLst>
            <a:outerShdw blurRad="254000" sx="102000" sy="102000" algn="ctr" rotWithShape="0">
              <a:prstClr val="black">
                <a:alpha val="20000"/>
              </a:prstClr>
            </a:outerShdw>
          </a:effectLst>
          <a:sp3d/>
        </c:spPr>
      </c:pivotFmt>
      <c:pivotFmt>
        <c:idx val="27"/>
        <c:spPr>
          <a:solidFill>
            <a:schemeClr val="accent1"/>
          </a:solidFill>
          <a:ln>
            <a:noFill/>
          </a:ln>
          <a:effectLst>
            <a:outerShdw blurRad="254000" sx="102000" sy="102000" algn="ctr" rotWithShape="0">
              <a:prstClr val="black">
                <a:alpha val="20000"/>
              </a:prstClr>
            </a:outerShdw>
          </a:effectLst>
          <a:sp3d/>
        </c:spPr>
      </c:pivotFmt>
      <c:pivotFmt>
        <c:idx val="28"/>
        <c:spPr>
          <a:solidFill>
            <a:schemeClr val="accent1"/>
          </a:solidFill>
          <a:ln>
            <a:noFill/>
          </a:ln>
          <a:effectLst>
            <a:outerShdw blurRad="254000" sx="102000" sy="102000" algn="ctr" rotWithShape="0">
              <a:prstClr val="black">
                <a:alpha val="20000"/>
              </a:prstClr>
            </a:outerShdw>
          </a:effectLst>
          <a:sp3d/>
        </c:spP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a:outerShdw blurRad="254000" sx="102000" sy="102000" algn="ctr" rotWithShape="0">
              <a:prstClr val="black">
                <a:alpha val="20000"/>
              </a:prstClr>
            </a:outerShdw>
          </a:effectLst>
          <a:sp3d/>
        </c:spPr>
        <c:dLbl>
          <c:idx val="0"/>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'Subjective| Q 1'!$J$22</c:f>
              <c:strCache>
                <c:ptCount val="1"/>
                <c:pt idx="0">
                  <c:v>Total</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CC2A-486B-A177-98224A8FAF1A}"/>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CC2A-486B-A177-98224A8FAF1A}"/>
              </c:ext>
            </c:extLst>
          </c:dPt>
          <c:dPt>
            <c:idx val="2"/>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5-CC2A-486B-A177-98224A8FAF1A}"/>
              </c:ext>
            </c:extLst>
          </c:dPt>
          <c:dPt>
            <c:idx val="3"/>
            <c:bubble3D val="0"/>
            <c:spPr>
              <a:solidFill>
                <a:schemeClr val="accent4"/>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7-CC2A-486B-A177-98224A8FAF1A}"/>
              </c:ext>
            </c:extLst>
          </c:dPt>
          <c:dPt>
            <c:idx val="4"/>
            <c:bubble3D val="0"/>
            <c:spPr>
              <a:solidFill>
                <a:schemeClr val="accent5"/>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9-CC2A-486B-A177-98224A8FAF1A}"/>
              </c:ext>
            </c:extLst>
          </c:dPt>
          <c:dLbls>
            <c:dLbl>
              <c:idx val="3"/>
              <c:delete val="1"/>
              <c:extLst>
                <c:ext xmlns:c15="http://schemas.microsoft.com/office/drawing/2012/chart" uri="{CE6537A1-D6FC-4f65-9D91-7224C49458BB}"/>
                <c:ext xmlns:c16="http://schemas.microsoft.com/office/drawing/2014/chart" uri="{C3380CC4-5D6E-409C-BE32-E72D297353CC}">
                  <c16:uniqueId val="{00000007-CC2A-486B-A177-98224A8FAF1A}"/>
                </c:ext>
              </c:extLst>
            </c:dLbl>
            <c:dLbl>
              <c:idx val="4"/>
              <c:delete val="1"/>
              <c:extLst>
                <c:ext xmlns:c15="http://schemas.microsoft.com/office/drawing/2012/chart" uri="{CE6537A1-D6FC-4f65-9D91-7224C49458BB}"/>
                <c:ext xmlns:c16="http://schemas.microsoft.com/office/drawing/2014/chart" uri="{C3380CC4-5D6E-409C-BE32-E72D297353CC}">
                  <c16:uniqueId val="{00000009-CC2A-486B-A177-98224A8FAF1A}"/>
                </c:ext>
              </c:extLst>
            </c:dLbl>
            <c:spPr>
              <a:solidFill>
                <a:schemeClr val="bg1"/>
              </a:solid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'Subjective| Q 1'!$I$23:$I$26</c:f>
              <c:strCache>
                <c:ptCount val="3"/>
                <c:pt idx="0">
                  <c:v>Completed</c:v>
                </c:pt>
                <c:pt idx="1">
                  <c:v>Failed</c:v>
                </c:pt>
                <c:pt idx="2">
                  <c:v>Incomplete</c:v>
                </c:pt>
              </c:strCache>
            </c:strRef>
          </c:cat>
          <c:val>
            <c:numRef>
              <c:f>'Subjective| Q 1'!$J$23:$J$26</c:f>
              <c:numCache>
                <c:formatCode>General</c:formatCode>
                <c:ptCount val="3"/>
                <c:pt idx="0">
                  <c:v>5535</c:v>
                </c:pt>
                <c:pt idx="1">
                  <c:v>7256</c:v>
                </c:pt>
                <c:pt idx="2">
                  <c:v>6641</c:v>
                </c:pt>
              </c:numCache>
            </c:numRef>
          </c:val>
          <c:extLst>
            <c:ext xmlns:c16="http://schemas.microsoft.com/office/drawing/2014/chart" uri="{C3380CC4-5D6E-409C-BE32-E72D297353CC}">
              <c16:uniqueId val="{0000000A-CC2A-486B-A177-98224A8FAF1A}"/>
            </c:ext>
          </c:extLst>
        </c:ser>
        <c:dLbls>
          <c:dLblPos val="ctr"/>
          <c:showLegendKey val="0"/>
          <c:showVal val="1"/>
          <c:showCatName val="0"/>
          <c:showSerName val="0"/>
          <c:showPercent val="0"/>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[AstroSage_analysis.xlsx]Objective |Q-9 &amp; 10!PivotTable5</c:name>
    <c:fmtId val="36"/>
  </c:pivotSource>
  <c:chart>
    <c:title>
      <c:tx>
        <c:rich>
          <a:bodyPr rot="0" vert="horz"/>
          <a:lstStyle/>
          <a:p>
            <a:pPr>
              <a:defRPr>
                <a:solidFill>
                  <a:sysClr val="windowText" lastClr="000000"/>
                </a:solidFill>
              </a:defRPr>
            </a:pPr>
            <a:r>
              <a:rPr lang="en-IN">
                <a:solidFill>
                  <a:sysClr val="windowText" lastClr="000000"/>
                </a:solidFill>
              </a:rPr>
              <a:t>Top 10 Gurus  by Calls  </a:t>
            </a:r>
          </a:p>
        </c:rich>
      </c:tx>
      <c:overlay val="0"/>
      <c:spPr>
        <a:noFill/>
        <a:ln>
          <a:noFill/>
        </a:ln>
        <a:effectLst/>
      </c:sp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vert="horz"/>
            <a:lstStyle/>
            <a:p>
              <a:pPr>
                <a:defRPr>
                  <a:solidFill>
                    <a:sysClr val="windowText" lastClr="000000"/>
                  </a:solidFill>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vert="horz"/>
            <a:lstStyle/>
            <a:p>
              <a:pPr>
                <a:defRPr>
                  <a:solidFill>
                    <a:sysClr val="windowText" lastClr="000000"/>
                  </a:solidFill>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vert="horz"/>
            <a:lstStyle/>
            <a:p>
              <a:pPr>
                <a:defRPr>
                  <a:solidFill>
                    <a:sysClr val="windowText" lastClr="000000"/>
                  </a:solidFill>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'Objective |Q-9 &amp; 10'!$Q$8</c:f>
              <c:strCache>
                <c:ptCount val="1"/>
                <c:pt idx="0">
                  <c:v>Total</c:v>
                </c:pt>
              </c:strCache>
            </c:strRef>
          </c:tx>
          <c:spPr>
            <a:solidFill>
              <a:schemeClr val="accent1"/>
            </a:solidFill>
            <a:ln>
              <a:noFill/>
            </a:ln>
            <a:effectLst/>
          </c:spPr>
          <c:invertIfNegative val="0"/>
          <c:dLbls>
            <c:spPr>
              <a:noFill/>
              <a:ln>
                <a:noFill/>
              </a:ln>
              <a:effectLst/>
            </c:spPr>
            <c:txPr>
              <a:bodyPr rot="0" vert="horz"/>
              <a:lstStyle/>
              <a:p>
                <a:pPr>
                  <a:defRPr>
                    <a:solidFill>
                      <a:sysClr val="windowText" lastClr="00000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'Objective |Q-9 &amp; 10'!$P$9:$P$19</c:f>
              <c:strCache>
                <c:ptCount val="10"/>
                <c:pt idx="0">
                  <c:v>256</c:v>
                </c:pt>
                <c:pt idx="1">
                  <c:v>292</c:v>
                </c:pt>
                <c:pt idx="2">
                  <c:v>19</c:v>
                </c:pt>
                <c:pt idx="3">
                  <c:v>281</c:v>
                </c:pt>
                <c:pt idx="4">
                  <c:v>235</c:v>
                </c:pt>
                <c:pt idx="5">
                  <c:v>261</c:v>
                </c:pt>
                <c:pt idx="6">
                  <c:v>257</c:v>
                </c:pt>
                <c:pt idx="7">
                  <c:v>87</c:v>
                </c:pt>
                <c:pt idx="8">
                  <c:v>195</c:v>
                </c:pt>
                <c:pt idx="9">
                  <c:v>75</c:v>
                </c:pt>
              </c:strCache>
            </c:strRef>
          </c:cat>
          <c:val>
            <c:numRef>
              <c:f>'Objective |Q-9 &amp; 10'!$Q$9:$Q$19</c:f>
              <c:numCache>
                <c:formatCode>General</c:formatCode>
                <c:ptCount val="10"/>
                <c:pt idx="0">
                  <c:v>1060</c:v>
                </c:pt>
                <c:pt idx="1">
                  <c:v>497</c:v>
                </c:pt>
                <c:pt idx="2">
                  <c:v>449</c:v>
                </c:pt>
                <c:pt idx="3">
                  <c:v>377</c:v>
                </c:pt>
                <c:pt idx="4">
                  <c:v>334</c:v>
                </c:pt>
                <c:pt idx="5">
                  <c:v>301</c:v>
                </c:pt>
                <c:pt idx="6">
                  <c:v>271</c:v>
                </c:pt>
                <c:pt idx="7">
                  <c:v>262</c:v>
                </c:pt>
                <c:pt idx="8">
                  <c:v>258</c:v>
                </c:pt>
                <c:pt idx="9">
                  <c:v>238</c:v>
                </c:pt>
              </c:numCache>
            </c:numRef>
          </c:val>
          <c:extLst>
            <c:ext xmlns:c16="http://schemas.microsoft.com/office/drawing/2014/chart" uri="{C3380CC4-5D6E-409C-BE32-E72D297353CC}">
              <c16:uniqueId val="{00000000-64A5-472E-871E-16A7466DB454}"/>
            </c:ext>
          </c:extLst>
        </c:ser>
        <c:dLbls>
          <c:dLblPos val="outEnd"/>
          <c:showLegendKey val="0"/>
          <c:showVal val="1"/>
          <c:showCatName val="0"/>
          <c:showSerName val="0"/>
          <c:showPercent val="0"/>
          <c:showBubbleSize val="0"/>
        </c:dLbls>
        <c:gapWidth val="182"/>
        <c:axId val="470507040"/>
        <c:axId val="470504544"/>
      </c:barChart>
      <c:catAx>
        <c:axId val="4705070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470504544"/>
        <c:crosses val="autoZero"/>
        <c:auto val="1"/>
        <c:lblAlgn val="ctr"/>
        <c:lblOffset val="100"/>
        <c:noMultiLvlLbl val="0"/>
      </c:catAx>
      <c:valAx>
        <c:axId val="470504544"/>
        <c:scaling>
          <c:orientation val="minMax"/>
        </c:scaling>
        <c:delete val="0"/>
        <c:axPos val="b"/>
        <c:numFmt formatCode="General" sourceLinked="1"/>
        <c:majorTickMark val="none"/>
        <c:minorTickMark val="none"/>
        <c:tickLblPos val="nextTo"/>
        <c:spPr>
          <a:noFill/>
          <a:ln>
            <a:noFill/>
          </a:ln>
          <a:effectLst/>
        </c:spPr>
        <c:txPr>
          <a:bodyPr rot="-60000000" vert="horz"/>
          <a:lstStyle/>
          <a:p>
            <a:pPr>
              <a:defRPr/>
            </a:pPr>
            <a:endParaRPr lang="en-US"/>
          </a:p>
        </c:txPr>
        <c:crossAx val="470507040"/>
        <c:crosses val="autoZero"/>
        <c:crossBetween val="between"/>
      </c:valAx>
    </c:plotArea>
    <c:plotVisOnly val="1"/>
    <c:dispBlanksAs val="gap"/>
    <c:showDLblsOverMax val="0"/>
    <c:extLst/>
  </c:chart>
  <c:txPr>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externalData r:id="rId2">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[AstroSage_analysis.xlsx]Prep!PivotTable2</c:name>
    <c:fmtId val="24"/>
  </c:pivotSource>
  <c:chart>
    <c:title>
      <c:tx>
        <c:rich>
          <a:bodyPr rot="0" spcFirstLastPara="1" vertOverflow="ellipsis" vert="horz" wrap="square" anchor="ctr" anchorCtr="1"/>
          <a:lstStyle/>
          <a:p>
            <a:pPr>
              <a:defRPr lang="en-US" sz="1200" b="0" i="0" u="none" strike="noStrike" kern="1200" spc="0" baseline="0">
                <a:solidFill>
                  <a:sysClr val="windowText" lastClr="000000"/>
                </a:solidFill>
                <a:latin typeface="Segoe UI" panose="020B0502040204020203" pitchFamily="34" charset="0"/>
                <a:ea typeface="+mn-ea"/>
                <a:cs typeface="Segoe UI" panose="020B0502040204020203" pitchFamily="34" charset="0"/>
              </a:defRPr>
            </a:pPr>
            <a:r>
              <a:rPr lang="en-IN">
                <a:solidFill>
                  <a:sysClr val="windowText" lastClr="000000"/>
                </a:solidFill>
              </a:rPr>
              <a:t>Top 10 Gurus by Rating</a:t>
            </a:r>
          </a:p>
        </c:rich>
      </c:tx>
      <c:overlay val="0"/>
      <c:spPr>
        <a:noFill/>
        <a:ln>
          <a:noFill/>
        </a:ln>
        <a:effectLst/>
      </c:spPr>
      <c:txPr>
        <a:bodyPr rot="0" spcFirstLastPara="1" vertOverflow="ellipsis" vert="horz" wrap="square" anchor="ctr" anchorCtr="1"/>
        <a:lstStyle/>
        <a:p>
          <a:pPr>
            <a:defRPr lang="en-US" sz="1200" b="0" i="0" u="none" strike="noStrike" kern="1200" spc="0" baseline="0">
              <a:solidFill>
                <a:sysClr val="windowText" lastClr="000000"/>
              </a:solidFill>
              <a:latin typeface="Segoe UI" panose="020B0502040204020203" pitchFamily="34" charset="0"/>
              <a:ea typeface="+mn-ea"/>
              <a:cs typeface="Segoe UI" panose="020B0502040204020203" pitchFamily="34" charset="0"/>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Prep!$E$2</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Prep!$D$3:$D$13</c:f>
              <c:strCache>
                <c:ptCount val="10"/>
                <c:pt idx="0">
                  <c:v>Astro  Pujaa Rai</c:v>
                </c:pt>
                <c:pt idx="1">
                  <c:v>Astro  Saraswat</c:v>
                </c:pt>
                <c:pt idx="2">
                  <c:v>Astro  Trisha</c:v>
                </c:pt>
                <c:pt idx="3">
                  <c:v>Astro Manish S</c:v>
                </c:pt>
                <c:pt idx="4">
                  <c:v>Astro Reema</c:v>
                </c:pt>
                <c:pt idx="5">
                  <c:v>Daljit Kaur</c:v>
                </c:pt>
                <c:pt idx="6">
                  <c:v>Tarot  Ankita</c:v>
                </c:pt>
                <c:pt idx="7">
                  <c:v>Tarot  Diva Poonam</c:v>
                </c:pt>
                <c:pt idx="8">
                  <c:v>Tarot  Mystical</c:v>
                </c:pt>
                <c:pt idx="9">
                  <c:v>Tarot  Oormika</c:v>
                </c:pt>
              </c:strCache>
            </c:strRef>
          </c:cat>
          <c:val>
            <c:numRef>
              <c:f>Prep!$E$3:$E$13</c:f>
              <c:numCache>
                <c:formatCode>0.00</c:formatCode>
                <c:ptCount val="10"/>
                <c:pt idx="0">
                  <c:v>7.5</c:v>
                </c:pt>
                <c:pt idx="1">
                  <c:v>5.6111111111111107</c:v>
                </c:pt>
                <c:pt idx="2">
                  <c:v>5.4243243243243242</c:v>
                </c:pt>
                <c:pt idx="3">
                  <c:v>5.0487804878048781</c:v>
                </c:pt>
                <c:pt idx="4">
                  <c:v>5.9</c:v>
                </c:pt>
                <c:pt idx="5">
                  <c:v>5.9459459459459456</c:v>
                </c:pt>
                <c:pt idx="6">
                  <c:v>5.75</c:v>
                </c:pt>
                <c:pt idx="7">
                  <c:v>5.4626865671641793</c:v>
                </c:pt>
                <c:pt idx="8">
                  <c:v>7.5</c:v>
                </c:pt>
                <c:pt idx="9">
                  <c:v>5.4</c:v>
                </c:pt>
              </c:numCache>
            </c:numRef>
          </c:val>
          <c:extLst>
            <c:ext xmlns:c16="http://schemas.microsoft.com/office/drawing/2014/chart" uri="{C3380CC4-5D6E-409C-BE32-E72D297353CC}">
              <c16:uniqueId val="{00000000-D88F-4400-87DD-3DA113A3E87E}"/>
            </c:ext>
          </c:extLst>
        </c:ser>
        <c:dLbls>
          <c:showLegendKey val="0"/>
          <c:showVal val="1"/>
          <c:showCatName val="0"/>
          <c:showSerName val="0"/>
          <c:showPercent val="0"/>
          <c:showBubbleSize val="0"/>
        </c:dLbls>
        <c:gapWidth val="150"/>
        <c:shape val="box"/>
        <c:axId val="31925232"/>
        <c:axId val="31930640"/>
        <c:axId val="0"/>
      </c:bar3DChart>
      <c:catAx>
        <c:axId val="3192523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ysClr val="windowText" lastClr="000000"/>
                </a:solidFill>
                <a:latin typeface="Segoe UI" panose="020B0502040204020203" pitchFamily="34" charset="0"/>
                <a:ea typeface="+mn-ea"/>
                <a:cs typeface="Segoe UI" panose="020B0502040204020203" pitchFamily="34" charset="0"/>
              </a:defRPr>
            </a:pPr>
            <a:endParaRPr lang="en-US"/>
          </a:p>
        </c:txPr>
        <c:crossAx val="31930640"/>
        <c:crosses val="autoZero"/>
        <c:auto val="1"/>
        <c:lblAlgn val="ctr"/>
        <c:lblOffset val="100"/>
        <c:noMultiLvlLbl val="0"/>
      </c:catAx>
      <c:valAx>
        <c:axId val="31930640"/>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31925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[AstroSage_analysis.xlsx]Prep!PivotTable6</c:name>
    <c:fmtId val="4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Rating vs Users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Prep!$V$2</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Prep!$U$3:$U$12</c:f>
              <c:strCache>
                <c:ptCount val="9"/>
                <c:pt idx="0">
                  <c:v>0</c:v>
                </c:pt>
                <c:pt idx="1">
                  <c:v>1</c:v>
                </c:pt>
                <c:pt idx="2">
                  <c:v>2</c:v>
                </c:pt>
                <c:pt idx="3">
                  <c:v>3</c:v>
                </c:pt>
                <c:pt idx="4">
                  <c:v>4</c:v>
                </c:pt>
                <c:pt idx="5">
                  <c:v>5</c:v>
                </c:pt>
                <c:pt idx="6">
                  <c:v>6</c:v>
                </c:pt>
                <c:pt idx="7">
                  <c:v>7</c:v>
                </c:pt>
                <c:pt idx="8">
                  <c:v>8</c:v>
                </c:pt>
              </c:strCache>
            </c:strRef>
          </c:cat>
          <c:val>
            <c:numRef>
              <c:f>Prep!$V$3:$V$12</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78DF-49C1-9FAA-043BF974FA0B}"/>
            </c:ext>
          </c:extLst>
        </c:ser>
        <c:dLbls>
          <c:showLegendKey val="0"/>
          <c:showVal val="1"/>
          <c:showCatName val="0"/>
          <c:showSerName val="0"/>
          <c:showPercent val="0"/>
          <c:showBubbleSize val="0"/>
        </c:dLbls>
        <c:gapWidth val="150"/>
        <c:shape val="box"/>
        <c:axId val="1296606799"/>
        <c:axId val="1296601391"/>
        <c:axId val="0"/>
      </c:bar3DChart>
      <c:catAx>
        <c:axId val="129660679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6601391"/>
        <c:crosses val="autoZero"/>
        <c:auto val="1"/>
        <c:lblAlgn val="ctr"/>
        <c:lblOffset val="100"/>
        <c:noMultiLvlLbl val="0"/>
      </c:catAx>
      <c:valAx>
        <c:axId val="129660139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66067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[AstroSage_analysis.xlsx]Prep!PivotTable11</c:name>
    <c:fmtId val="47"/>
  </c:pivotSource>
  <c:chart>
    <c:title>
      <c:tx>
        <c:rich>
          <a:bodyPr rot="0" spcFirstLastPara="1" vertOverflow="ellipsis" vert="horz" wrap="square" anchor="ctr" anchorCtr="1"/>
          <a:lstStyle/>
          <a:p>
            <a:pPr algn="ctr">
              <a:defRPr lang="en-US" sz="1200" b="0" i="0" u="none" strike="noStrike" kern="1200" spc="0" baseline="0">
                <a:solidFill>
                  <a:schemeClr val="tx1"/>
                </a:solidFill>
                <a:latin typeface="Segoe UI" panose="020B0502040204020203" pitchFamily="34" charset="0"/>
                <a:ea typeface="+mn-ea"/>
                <a:cs typeface="Segoe UI" panose="020B0502040204020203" pitchFamily="34" charset="0"/>
              </a:defRPr>
            </a:pPr>
            <a:r>
              <a:rPr lang="en-IN"/>
              <a:t>Daily Call Volume</a:t>
            </a:r>
          </a:p>
        </c:rich>
      </c:tx>
      <c:layout>
        <c:manualLayout>
          <c:xMode val="edge"/>
          <c:yMode val="edge"/>
          <c:x val="0.30994562115139668"/>
          <c:y val="8.6942257217847763E-2"/>
        </c:manualLayout>
      </c:layout>
      <c:overlay val="0"/>
      <c:spPr>
        <a:noFill/>
        <a:ln>
          <a:noFill/>
        </a:ln>
        <a:effectLst/>
      </c:spPr>
      <c:txPr>
        <a:bodyPr rot="0" spcFirstLastPara="1" vertOverflow="ellipsis" vert="horz" wrap="square" anchor="ctr" anchorCtr="1"/>
        <a:lstStyle/>
        <a:p>
          <a:pPr algn="ctr">
            <a:defRPr lang="en-US" sz="1200" b="0" i="0" u="none" strike="noStrike" kern="1200" spc="0" baseline="0">
              <a:solidFill>
                <a:schemeClr val="tx1"/>
              </a:solidFill>
              <a:latin typeface="Segoe UI" panose="020B0502040204020203" pitchFamily="34" charset="0"/>
              <a:ea typeface="+mn-ea"/>
              <a:cs typeface="Segoe UI" panose="020B0502040204020203" pitchFamily="34" charset="0"/>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Prep!$S$3</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Prep!$R$4:$R$11</c:f>
              <c:strCache>
                <c:ptCount val="7"/>
                <c:pt idx="0">
                  <c:v>Sunday</c:v>
                </c:pt>
                <c:pt idx="1">
                  <c:v>Monday</c:v>
                </c:pt>
                <c:pt idx="2">
                  <c:v>Tuesday</c:v>
                </c:pt>
                <c:pt idx="3">
                  <c:v>Wednesday</c:v>
                </c:pt>
                <c:pt idx="4">
                  <c:v>Thursday</c:v>
                </c:pt>
                <c:pt idx="5">
                  <c:v>Friday</c:v>
                </c:pt>
                <c:pt idx="6">
                  <c:v>Saturday</c:v>
                </c:pt>
              </c:strCache>
            </c:strRef>
          </c:cat>
          <c:val>
            <c:numRef>
              <c:f>Prep!$S$4:$S$11</c:f>
              <c:numCache>
                <c:formatCode>General</c:formatCode>
                <c:ptCount val="7"/>
                <c:pt idx="0">
                  <c:v>4592</c:v>
                </c:pt>
                <c:pt idx="1">
                  <c:v>4010</c:v>
                </c:pt>
                <c:pt idx="2">
                  <c:v>3969</c:v>
                </c:pt>
                <c:pt idx="3">
                  <c:v>3367</c:v>
                </c:pt>
                <c:pt idx="4">
                  <c:v>3341</c:v>
                </c:pt>
                <c:pt idx="5">
                  <c:v>4515</c:v>
                </c:pt>
                <c:pt idx="6">
                  <c:v>4233</c:v>
                </c:pt>
              </c:numCache>
            </c:numRef>
          </c:val>
          <c:extLst>
            <c:ext xmlns:c16="http://schemas.microsoft.com/office/drawing/2014/chart" uri="{C3380CC4-5D6E-409C-BE32-E72D297353CC}">
              <c16:uniqueId val="{00000000-68BC-40DE-9450-8B3048E1068B}"/>
            </c:ext>
          </c:extLst>
        </c:ser>
        <c:dLbls>
          <c:showLegendKey val="0"/>
          <c:showVal val="1"/>
          <c:showCatName val="0"/>
          <c:showSerName val="0"/>
          <c:showPercent val="0"/>
          <c:showBubbleSize val="0"/>
        </c:dLbls>
        <c:gapWidth val="294"/>
        <c:shape val="box"/>
        <c:axId val="341502368"/>
        <c:axId val="341495712"/>
        <c:axId val="0"/>
      </c:bar3DChart>
      <c:catAx>
        <c:axId val="341502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341495712"/>
        <c:crosses val="autoZero"/>
        <c:auto val="1"/>
        <c:lblAlgn val="ctr"/>
        <c:lblOffset val="100"/>
        <c:noMultiLvlLbl val="0"/>
      </c:catAx>
      <c:valAx>
        <c:axId val="34149571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341502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[AstroSage_analysis.xlsx]Prep!PivotTable8</c:name>
    <c:fmtId val="47"/>
  </c:pivotSource>
  <c:chart>
    <c:title>
      <c:tx>
        <c:rich>
          <a:bodyPr rot="0" spcFirstLastPara="1" vertOverflow="ellipsis" vert="horz" wrap="square" anchor="ctr" anchorCtr="1"/>
          <a:lstStyle/>
          <a:p>
            <a:pPr algn="ctr">
              <a:defRPr lang="en-US" sz="1200" b="0" i="0" u="none" strike="noStrike" kern="1200" spc="0" baseline="0">
                <a:solidFill>
                  <a:sysClr val="windowText" lastClr="000000"/>
                </a:solidFill>
                <a:latin typeface="Segoe UI" panose="020B0502040204020203" pitchFamily="34" charset="0"/>
                <a:ea typeface="+mn-ea"/>
                <a:cs typeface="Segoe UI" panose="020B0502040204020203" pitchFamily="34" charset="0"/>
              </a:defRPr>
            </a:pPr>
            <a:r>
              <a:rPr lang="en-IN">
                <a:solidFill>
                  <a:sysClr val="windowText" lastClr="000000"/>
                </a:solidFill>
              </a:rPr>
              <a:t>Website vs  Volume</a:t>
            </a:r>
          </a:p>
        </c:rich>
      </c:tx>
      <c:layout>
        <c:manualLayout>
          <c:xMode val="edge"/>
          <c:yMode val="edge"/>
          <c:x val="0.30874870110522384"/>
          <c:y val="8.592144363407804E-2"/>
        </c:manualLayout>
      </c:layout>
      <c:overlay val="0"/>
      <c:spPr>
        <a:noFill/>
        <a:ln>
          <a:noFill/>
        </a:ln>
        <a:effectLst/>
      </c:spPr>
      <c:txPr>
        <a:bodyPr rot="0" spcFirstLastPara="1" vertOverflow="ellipsis" vert="horz" wrap="square" anchor="ctr" anchorCtr="1"/>
        <a:lstStyle/>
        <a:p>
          <a:pPr algn="ctr">
            <a:defRPr lang="en-US" sz="1200" b="0" i="0" u="none" strike="noStrike" kern="1200" spc="0" baseline="0">
              <a:solidFill>
                <a:sysClr val="windowText" lastClr="000000"/>
              </a:solidFill>
              <a:latin typeface="Segoe UI" panose="020B0502040204020203" pitchFamily="34" charset="0"/>
              <a:ea typeface="+mn-ea"/>
              <a:cs typeface="Segoe UI" panose="020B0502040204020203" pitchFamily="34" charset="0"/>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chemeClr val="accent6">
                <a:lumMod val="20000"/>
                <a:lumOff val="80000"/>
              </a:schemeClr>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solidFill>
              <a:schemeClr val="accent6">
                <a:lumMod val="20000"/>
                <a:lumOff val="80000"/>
              </a:schemeClr>
            </a:solid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4"/>
        <c:spPr>
          <a:solidFill>
            <a:schemeClr val="accent1"/>
          </a:solidFill>
          <a:ln w="19050">
            <a:solidFill>
              <a:schemeClr val="lt1"/>
            </a:solidFill>
          </a:ln>
          <a:effectLst/>
        </c:spP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4650713582677167"/>
          <c:y val="0.24837525517643627"/>
          <c:w val="0.33424725229658792"/>
          <c:h val="0.59421733741615634"/>
        </c:manualLayout>
      </c:layout>
      <c:doughnutChart>
        <c:varyColors val="1"/>
        <c:ser>
          <c:idx val="0"/>
          <c:order val="0"/>
          <c:tx>
            <c:strRef>
              <c:f>Prep!$H$19</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70D-4BE5-AFEF-8D58C5FF76C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70D-4BE5-AFEF-8D58C5FF76C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70D-4BE5-AFEF-8D58C5FF76C5}"/>
              </c:ext>
            </c:extLst>
          </c:dPt>
          <c:dLbls>
            <c:dLbl>
              <c:idx val="0"/>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70D-4BE5-AFEF-8D58C5FF76C5}"/>
                </c:ext>
              </c:extLst>
            </c:dLbl>
            <c:dLbl>
              <c:idx val="1"/>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70D-4BE5-AFEF-8D58C5FF76C5}"/>
                </c:ext>
              </c:extLst>
            </c:dLbl>
            <c:spPr>
              <a:solidFill>
                <a:schemeClr val="bg1"/>
              </a:solid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Prep!$G$20:$G$22</c:f>
              <c:strCache>
                <c:ptCount val="2"/>
                <c:pt idx="0">
                  <c:v>app</c:v>
                </c:pt>
                <c:pt idx="1">
                  <c:v>gurucool</c:v>
                </c:pt>
              </c:strCache>
            </c:strRef>
          </c:cat>
          <c:val>
            <c:numRef>
              <c:f>Prep!$H$20:$H$22</c:f>
              <c:numCache>
                <c:formatCode>General</c:formatCode>
                <c:ptCount val="2"/>
                <c:pt idx="0">
                  <c:v>7800</c:v>
                </c:pt>
                <c:pt idx="1">
                  <c:v>20225</c:v>
                </c:pt>
              </c:numCache>
            </c:numRef>
          </c:val>
          <c:extLst>
            <c:ext xmlns:c16="http://schemas.microsoft.com/office/drawing/2014/chart" uri="{C3380CC4-5D6E-409C-BE32-E72D297353CC}">
              <c16:uniqueId val="{00000006-B70D-4BE5-AFEF-8D58C5FF76C5}"/>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E731E-F77F-4A77-9FC1-B076AE78E0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15157F-8EFF-4A7D-B24D-32E09B8C84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EC9E6A-B372-4C16-96ED-CBEA6BAED5D4}"/>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5" name="Footer Placeholder 4">
            <a:extLst>
              <a:ext uri="{FF2B5EF4-FFF2-40B4-BE49-F238E27FC236}">
                <a16:creationId xmlns:a16="http://schemas.microsoft.com/office/drawing/2014/main" id="{41BB9DE9-58B3-45E8-A38A-4909667417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5C3B58-042A-4649-A7A3-025971ECFBCA}"/>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2015383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0C9A-21CD-469C-8DFC-6B2FD2A3F5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13C6C1-2EEE-4CDC-95E3-803902D6DF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DF709D-D703-4E2F-A82F-6DC36AE74812}"/>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5" name="Footer Placeholder 4">
            <a:extLst>
              <a:ext uri="{FF2B5EF4-FFF2-40B4-BE49-F238E27FC236}">
                <a16:creationId xmlns:a16="http://schemas.microsoft.com/office/drawing/2014/main" id="{99932261-1697-4EBF-9F75-5E266A6C57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F6278E-AE5C-4F24-8E90-01A8C27F2675}"/>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1606987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79E6-71FF-4FBE-811B-15FF0B1BD6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102EC9-D4B8-472C-AC38-D5DDF68178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B33C20-020A-442C-A904-262D885F7C23}"/>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5" name="Footer Placeholder 4">
            <a:extLst>
              <a:ext uri="{FF2B5EF4-FFF2-40B4-BE49-F238E27FC236}">
                <a16:creationId xmlns:a16="http://schemas.microsoft.com/office/drawing/2014/main" id="{61E26DB0-1B1F-4B9F-99F6-C381BC1A6C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ACC90F-1F53-49F7-9507-080A4CD16D97}"/>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1880850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1582D-8766-4772-A091-CE18702C7E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5BDB16-1150-4438-B04C-D24B50AF1F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224FB2-640E-48B5-8466-C80A71C1F3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E0C8CC-31DA-4AB3-9FC3-2309731AED50}"/>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6" name="Footer Placeholder 5">
            <a:extLst>
              <a:ext uri="{FF2B5EF4-FFF2-40B4-BE49-F238E27FC236}">
                <a16:creationId xmlns:a16="http://schemas.microsoft.com/office/drawing/2014/main" id="{8035BD56-25EA-4F8A-8DAF-05A1266D34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447BFC-45D1-479C-A789-CF5473C20040}"/>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24884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8AB3F-712A-4A6F-87B4-D73C13DAB8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109654-0EC7-4095-BCBB-C07A148AF9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416E81-03BA-4C52-B78A-D1FA9B6A73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1AC34E-87ED-467E-834B-F1083B26B7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B082D8-7AC2-4EE3-A0A0-62467694E9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608EC0-9084-4D87-949B-0B1126C58D7F}"/>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8" name="Footer Placeholder 7">
            <a:extLst>
              <a:ext uri="{FF2B5EF4-FFF2-40B4-BE49-F238E27FC236}">
                <a16:creationId xmlns:a16="http://schemas.microsoft.com/office/drawing/2014/main" id="{3F2CBA90-A482-4F88-B1A7-8631107907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427B6B-4A4C-413E-8676-B5D3D7CC0837}"/>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3374965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D5B44-F036-4887-9C54-7CB84BF3BD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474CA6-C833-407A-923B-70202BB2D59C}"/>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4" name="Footer Placeholder 3">
            <a:extLst>
              <a:ext uri="{FF2B5EF4-FFF2-40B4-BE49-F238E27FC236}">
                <a16:creationId xmlns:a16="http://schemas.microsoft.com/office/drawing/2014/main" id="{EF8B03C2-DA6B-4088-92F8-74E23237C34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F0DEA6-DA27-4A70-8956-669EE6745767}"/>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3500154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621C64-5ECB-4666-9552-567EC44DD555}"/>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3" name="Footer Placeholder 2">
            <a:extLst>
              <a:ext uri="{FF2B5EF4-FFF2-40B4-BE49-F238E27FC236}">
                <a16:creationId xmlns:a16="http://schemas.microsoft.com/office/drawing/2014/main" id="{65DC2864-9E6D-4E7E-A93D-FC08347C14F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AB4F54-A392-4A84-B006-D33BD1727BB1}"/>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527539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2C7B3-FFC5-430C-8DEB-D94D03F795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E5342E-FC1B-459A-9EC1-1BC80CF4CA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22AEA3-EA9D-4518-AB3E-535DF1074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E8F3DF-720B-47B6-91FC-66B43594D6A3}"/>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6" name="Footer Placeholder 5">
            <a:extLst>
              <a:ext uri="{FF2B5EF4-FFF2-40B4-BE49-F238E27FC236}">
                <a16:creationId xmlns:a16="http://schemas.microsoft.com/office/drawing/2014/main" id="{7715B9ED-BE45-4076-9D1A-63A2A898C0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646E9F-7AEC-4259-8616-91A4CBD6857E}"/>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3055909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3313-0808-44F0-8106-9A7379828A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E471B2-A391-4C22-A032-4B4243ADCD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EF6378-7321-4024-85C0-A1849CF80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53892-079A-4F9B-BC43-B84C3E3A2311}"/>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6" name="Footer Placeholder 5">
            <a:extLst>
              <a:ext uri="{FF2B5EF4-FFF2-40B4-BE49-F238E27FC236}">
                <a16:creationId xmlns:a16="http://schemas.microsoft.com/office/drawing/2014/main" id="{20F9C962-85D3-4354-88EF-FEC9630A17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FB61D4-0729-4512-B15A-8E71498B0DD0}"/>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36231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1E75A-299F-498F-81F8-1643FC33EF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44143D-6AA2-4F3D-8B04-98D23CA8C2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D4D2D9-97F7-417A-901A-E5A2588E720F}"/>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5" name="Footer Placeholder 4">
            <a:extLst>
              <a:ext uri="{FF2B5EF4-FFF2-40B4-BE49-F238E27FC236}">
                <a16:creationId xmlns:a16="http://schemas.microsoft.com/office/drawing/2014/main" id="{DFE1A86F-A7AF-4DA6-A6A6-B75C7F347D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2B8DA3-A53F-43DA-9744-D499855BF57F}"/>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4067270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1CE13C-F85E-450D-82B0-A34AB78782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52E64E-FD69-4D76-B560-37A89D0932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7901D5-5E33-4C84-A188-CF7E68F06114}"/>
              </a:ext>
            </a:extLst>
          </p:cNvPr>
          <p:cNvSpPr>
            <a:spLocks noGrp="1"/>
          </p:cNvSpPr>
          <p:nvPr>
            <p:ph type="dt" sz="half" idx="10"/>
          </p:nvPr>
        </p:nvSpPr>
        <p:spPr/>
        <p:txBody>
          <a:bodyPr/>
          <a:lstStyle/>
          <a:p>
            <a:fld id="{96B0AAB0-F065-4FB3-A920-B4101040BAAB}" type="datetimeFigureOut">
              <a:rPr lang="en-IN" smtClean="0"/>
              <a:t>18-02-2026</a:t>
            </a:fld>
            <a:endParaRPr lang="en-IN"/>
          </a:p>
        </p:txBody>
      </p:sp>
      <p:sp>
        <p:nvSpPr>
          <p:cNvPr id="5" name="Footer Placeholder 4">
            <a:extLst>
              <a:ext uri="{FF2B5EF4-FFF2-40B4-BE49-F238E27FC236}">
                <a16:creationId xmlns:a16="http://schemas.microsoft.com/office/drawing/2014/main" id="{0D0E9DD4-63B0-449F-9924-88944D0292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1A16E-B1CD-44A4-9987-99EB6EA662E3}"/>
              </a:ext>
            </a:extLst>
          </p:cNvPr>
          <p:cNvSpPr>
            <a:spLocks noGrp="1"/>
          </p:cNvSpPr>
          <p:nvPr>
            <p:ph type="sldNum" sz="quarter" idx="12"/>
          </p:nvPr>
        </p:nvSpPr>
        <p:spPr/>
        <p:txBody>
          <a:bodyPr/>
          <a:lstStyle/>
          <a:p>
            <a:fld id="{AABF62E3-EE97-41AC-8586-9AB129C1F702}" type="slidenum">
              <a:rPr lang="en-IN" smtClean="0"/>
              <a:t>‹#›</a:t>
            </a:fld>
            <a:endParaRPr lang="en-IN"/>
          </a:p>
        </p:txBody>
      </p:sp>
    </p:spTree>
    <p:extLst>
      <p:ext uri="{BB962C8B-B14F-4D97-AF65-F5344CB8AC3E}">
        <p14:creationId xmlns:p14="http://schemas.microsoft.com/office/powerpoint/2010/main" val="4290814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6DCC11-2EB0-46B6-BC20-0B9C928483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B96B0C-9AB1-45B3-AD04-93EC432A95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1BFC8E-DF12-4092-A076-BB3591C638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B0AAB0-F065-4FB3-A920-B4101040BAAB}" type="datetimeFigureOut">
              <a:rPr lang="en-IN" smtClean="0"/>
              <a:t>18-02-2026</a:t>
            </a:fld>
            <a:endParaRPr lang="en-IN"/>
          </a:p>
        </p:txBody>
      </p:sp>
      <p:sp>
        <p:nvSpPr>
          <p:cNvPr id="5" name="Footer Placeholder 4">
            <a:extLst>
              <a:ext uri="{FF2B5EF4-FFF2-40B4-BE49-F238E27FC236}">
                <a16:creationId xmlns:a16="http://schemas.microsoft.com/office/drawing/2014/main" id="{6581C794-A3DB-4CB7-A2D2-8631BD0896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1D79DC-089C-48D2-B6C6-4D11521698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BF62E3-EE97-41AC-8586-9AB129C1F702}" type="slidenum">
              <a:rPr lang="en-IN" smtClean="0"/>
              <a:t>‹#›</a:t>
            </a:fld>
            <a:endParaRPr lang="en-IN"/>
          </a:p>
        </p:txBody>
      </p:sp>
    </p:spTree>
    <p:extLst>
      <p:ext uri="{BB962C8B-B14F-4D97-AF65-F5344CB8AC3E}">
        <p14:creationId xmlns:p14="http://schemas.microsoft.com/office/powerpoint/2010/main" val="2297915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hart" Target="../charts/chart2.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hart" Target="../charts/chart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5.png"/><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chart" Target="../charts/chart5.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hart" Target="../charts/chart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72.png"/><Relationship Id="rId4" Type="http://schemas.openxmlformats.org/officeDocument/2006/relationships/image" Target="../media/image71.png"/></Relationships>
</file>

<file path=ppt/slides/_rels/slide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chart" Target="../charts/chart8.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chart" Target="../charts/chart9.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1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2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2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84121-278F-435B-9A5E-0D60C39B2AFA}"/>
              </a:ext>
            </a:extLst>
          </p:cNvPr>
          <p:cNvSpPr>
            <a:spLocks noGrp="1"/>
          </p:cNvSpPr>
          <p:nvPr>
            <p:ph type="ctrTitle"/>
          </p:nvPr>
        </p:nvSpPr>
        <p:spPr>
          <a:blipFill>
            <a:blip r:embed="rId2"/>
            <a:tile tx="0" ty="0" sx="100000" sy="100000" flip="none" algn="tl"/>
          </a:blipFill>
          <a:ln>
            <a:noFill/>
          </a:ln>
        </p:spPr>
        <p:txBody>
          <a:bodyPr numCol="1">
            <a:normAutofit/>
          </a:bodyPr>
          <a:lstStyle/>
          <a:p>
            <a:r>
              <a:rPr lang="en-IN" sz="3200" b="1" i="1" dirty="0">
                <a:solidFill>
                  <a:srgbClr val="002060"/>
                </a:solidFill>
                <a:latin typeface="Segoe UI" panose="020B0502040204020203" pitchFamily="34" charset="0"/>
                <a:cs typeface="Segoe UI" panose="020B0502040204020203" pitchFamily="34" charset="0"/>
              </a:rPr>
              <a:t>AstroSage Call Centre Analysis</a:t>
            </a:r>
          </a:p>
        </p:txBody>
      </p:sp>
      <p:sp>
        <p:nvSpPr>
          <p:cNvPr id="3" name="Subtitle 2">
            <a:extLst>
              <a:ext uri="{FF2B5EF4-FFF2-40B4-BE49-F238E27FC236}">
                <a16:creationId xmlns:a16="http://schemas.microsoft.com/office/drawing/2014/main" id="{FCD13DF2-17F4-4F7C-816E-D47F77D8F0BB}"/>
              </a:ext>
            </a:extLst>
          </p:cNvPr>
          <p:cNvSpPr>
            <a:spLocks noGrp="1"/>
          </p:cNvSpPr>
          <p:nvPr>
            <p:ph type="subTitle" idx="1"/>
          </p:nvPr>
        </p:nvSpPr>
        <p:spPr>
          <a:xfrm>
            <a:off x="1524000" y="4706938"/>
            <a:ext cx="9144000" cy="1655762"/>
          </a:xfrm>
          <a:blipFill>
            <a:blip r:embed="rId2"/>
            <a:tile tx="0" ty="0" sx="100000" sy="100000" flip="none" algn="tl"/>
          </a:blipFill>
        </p:spPr>
        <p:txBody>
          <a:bodyPr>
            <a:normAutofit/>
          </a:bodyPr>
          <a:lstStyle/>
          <a:p>
            <a:pPr algn="l"/>
            <a:r>
              <a:rPr lang="en-IN" sz="1600" i="1" dirty="0" err="1">
                <a:latin typeface="Segoe UI" panose="020B0502040204020203" pitchFamily="34" charset="0"/>
                <a:cs typeface="Segoe UI" panose="020B0502040204020203" pitchFamily="34" charset="0"/>
              </a:rPr>
              <a:t>Syeda</a:t>
            </a:r>
            <a:r>
              <a:rPr lang="en-IN" sz="1600" i="1" dirty="0">
                <a:latin typeface="Segoe UI" panose="020B0502040204020203" pitchFamily="34" charset="0"/>
                <a:cs typeface="Segoe UI" panose="020B0502040204020203" pitchFamily="34" charset="0"/>
              </a:rPr>
              <a:t> Saima Nasreen</a:t>
            </a:r>
          </a:p>
          <a:p>
            <a:pPr algn="l"/>
            <a:r>
              <a:rPr lang="en-IN" sz="1600" i="1" dirty="0">
                <a:latin typeface="Segoe UI" panose="020B0502040204020203" pitchFamily="34" charset="0"/>
                <a:cs typeface="Segoe UI" panose="020B0502040204020203" pitchFamily="34" charset="0"/>
              </a:rPr>
              <a:t>01-Feb-2026</a:t>
            </a:r>
          </a:p>
        </p:txBody>
      </p:sp>
      <p:pic>
        <p:nvPicPr>
          <p:cNvPr id="12" name="Picture 11">
            <a:extLst>
              <a:ext uri="{FF2B5EF4-FFF2-40B4-BE49-F238E27FC236}">
                <a16:creationId xmlns:a16="http://schemas.microsoft.com/office/drawing/2014/main" id="{A9879FCC-4D4F-4E02-A62C-17ADFBCFC1B5}"/>
              </a:ext>
            </a:extLst>
          </p:cNvPr>
          <p:cNvPicPr>
            <a:picLocks noChangeAspect="1"/>
          </p:cNvPicPr>
          <p:nvPr/>
        </p:nvPicPr>
        <p:blipFill>
          <a:blip r:embed="rId3"/>
          <a:stretch>
            <a:fillRect/>
          </a:stretch>
        </p:blipFill>
        <p:spPr>
          <a:xfrm>
            <a:off x="11116796" y="564963"/>
            <a:ext cx="600075" cy="600075"/>
          </a:xfrm>
          <a:prstGeom prst="rect">
            <a:avLst/>
          </a:prstGeom>
        </p:spPr>
      </p:pic>
      <p:pic>
        <p:nvPicPr>
          <p:cNvPr id="14" name="Picture 13">
            <a:extLst>
              <a:ext uri="{FF2B5EF4-FFF2-40B4-BE49-F238E27FC236}">
                <a16:creationId xmlns:a16="http://schemas.microsoft.com/office/drawing/2014/main" id="{556AC98B-B0B2-45A4-BE18-9A8170E9C678}"/>
              </a:ext>
            </a:extLst>
          </p:cNvPr>
          <p:cNvPicPr>
            <a:picLocks noChangeAspect="1"/>
          </p:cNvPicPr>
          <p:nvPr/>
        </p:nvPicPr>
        <p:blipFill>
          <a:blip r:embed="rId4"/>
          <a:stretch>
            <a:fillRect/>
          </a:stretch>
        </p:blipFill>
        <p:spPr>
          <a:xfrm flipH="1">
            <a:off x="5152207" y="336905"/>
            <a:ext cx="519112" cy="519112"/>
          </a:xfrm>
          <a:prstGeom prst="rect">
            <a:avLst/>
          </a:prstGeom>
        </p:spPr>
      </p:pic>
      <p:pic>
        <p:nvPicPr>
          <p:cNvPr id="16" name="Picture 15">
            <a:extLst>
              <a:ext uri="{FF2B5EF4-FFF2-40B4-BE49-F238E27FC236}">
                <a16:creationId xmlns:a16="http://schemas.microsoft.com/office/drawing/2014/main" id="{63F091B3-DD3F-4F1D-87D5-E5DA589A4369}"/>
              </a:ext>
            </a:extLst>
          </p:cNvPr>
          <p:cNvPicPr>
            <a:picLocks noChangeAspect="1"/>
          </p:cNvPicPr>
          <p:nvPr/>
        </p:nvPicPr>
        <p:blipFill>
          <a:blip r:embed="rId5"/>
          <a:stretch>
            <a:fillRect/>
          </a:stretch>
        </p:blipFill>
        <p:spPr>
          <a:xfrm flipH="1">
            <a:off x="249633" y="440134"/>
            <a:ext cx="390525" cy="390525"/>
          </a:xfrm>
          <a:prstGeom prst="rect">
            <a:avLst/>
          </a:prstGeom>
        </p:spPr>
      </p:pic>
      <p:pic>
        <p:nvPicPr>
          <p:cNvPr id="18" name="Picture 17">
            <a:extLst>
              <a:ext uri="{FF2B5EF4-FFF2-40B4-BE49-F238E27FC236}">
                <a16:creationId xmlns:a16="http://schemas.microsoft.com/office/drawing/2014/main" id="{172AAA9B-A547-4F12-8D5A-C18B89D3BBBD}"/>
              </a:ext>
            </a:extLst>
          </p:cNvPr>
          <p:cNvPicPr>
            <a:picLocks noChangeAspect="1"/>
          </p:cNvPicPr>
          <p:nvPr/>
        </p:nvPicPr>
        <p:blipFill>
          <a:blip r:embed="rId6"/>
          <a:stretch>
            <a:fillRect/>
          </a:stretch>
        </p:blipFill>
        <p:spPr>
          <a:xfrm>
            <a:off x="10598525" y="5305332"/>
            <a:ext cx="1118346" cy="1118346"/>
          </a:xfrm>
          <a:prstGeom prst="rect">
            <a:avLst/>
          </a:prstGeom>
        </p:spPr>
      </p:pic>
      <p:pic>
        <p:nvPicPr>
          <p:cNvPr id="22" name="Picture 21">
            <a:extLst>
              <a:ext uri="{FF2B5EF4-FFF2-40B4-BE49-F238E27FC236}">
                <a16:creationId xmlns:a16="http://schemas.microsoft.com/office/drawing/2014/main" id="{4AA688BA-CBA4-444A-B4C9-9CB569A0F117}"/>
              </a:ext>
            </a:extLst>
          </p:cNvPr>
          <p:cNvPicPr>
            <a:picLocks noChangeAspect="1"/>
          </p:cNvPicPr>
          <p:nvPr/>
        </p:nvPicPr>
        <p:blipFill>
          <a:blip r:embed="rId7"/>
          <a:stretch>
            <a:fillRect/>
          </a:stretch>
        </p:blipFill>
        <p:spPr>
          <a:xfrm>
            <a:off x="299842" y="3110753"/>
            <a:ext cx="636493" cy="636493"/>
          </a:xfrm>
          <a:prstGeom prst="rect">
            <a:avLst/>
          </a:prstGeom>
        </p:spPr>
      </p:pic>
      <p:pic>
        <p:nvPicPr>
          <p:cNvPr id="24" name="Picture 23">
            <a:extLst>
              <a:ext uri="{FF2B5EF4-FFF2-40B4-BE49-F238E27FC236}">
                <a16:creationId xmlns:a16="http://schemas.microsoft.com/office/drawing/2014/main" id="{407367F8-D3D9-4E41-A27C-E9ECC453C8CD}"/>
              </a:ext>
            </a:extLst>
          </p:cNvPr>
          <p:cNvPicPr>
            <a:picLocks noChangeAspect="1"/>
          </p:cNvPicPr>
          <p:nvPr/>
        </p:nvPicPr>
        <p:blipFill>
          <a:blip r:embed="rId8"/>
          <a:stretch>
            <a:fillRect/>
          </a:stretch>
        </p:blipFill>
        <p:spPr>
          <a:xfrm>
            <a:off x="11021630" y="2763132"/>
            <a:ext cx="695241" cy="695241"/>
          </a:xfrm>
          <a:prstGeom prst="rect">
            <a:avLst/>
          </a:prstGeom>
        </p:spPr>
      </p:pic>
      <p:pic>
        <p:nvPicPr>
          <p:cNvPr id="26" name="Picture 25">
            <a:extLst>
              <a:ext uri="{FF2B5EF4-FFF2-40B4-BE49-F238E27FC236}">
                <a16:creationId xmlns:a16="http://schemas.microsoft.com/office/drawing/2014/main" id="{9A19AD54-9E8F-46F3-A303-1C7D73096EE9}"/>
              </a:ext>
            </a:extLst>
          </p:cNvPr>
          <p:cNvPicPr>
            <a:picLocks noChangeAspect="1"/>
          </p:cNvPicPr>
          <p:nvPr/>
        </p:nvPicPr>
        <p:blipFill>
          <a:blip r:embed="rId9"/>
          <a:stretch>
            <a:fillRect/>
          </a:stretch>
        </p:blipFill>
        <p:spPr>
          <a:xfrm flipH="1">
            <a:off x="165609" y="5602941"/>
            <a:ext cx="963706" cy="963706"/>
          </a:xfrm>
          <a:prstGeom prst="rect">
            <a:avLst/>
          </a:prstGeom>
        </p:spPr>
      </p:pic>
      <p:pic>
        <p:nvPicPr>
          <p:cNvPr id="27" name="Picture 26">
            <a:extLst>
              <a:ext uri="{FF2B5EF4-FFF2-40B4-BE49-F238E27FC236}">
                <a16:creationId xmlns:a16="http://schemas.microsoft.com/office/drawing/2014/main" id="{B95D7BE8-ECC4-4C58-8BE1-5A151534229D}"/>
              </a:ext>
            </a:extLst>
          </p:cNvPr>
          <p:cNvPicPr>
            <a:picLocks noChangeAspect="1"/>
          </p:cNvPicPr>
          <p:nvPr/>
        </p:nvPicPr>
        <p:blipFill>
          <a:blip r:embed="rId10"/>
          <a:stretch>
            <a:fillRect/>
          </a:stretch>
        </p:blipFill>
        <p:spPr>
          <a:xfrm>
            <a:off x="6674926" y="88114"/>
            <a:ext cx="1073240" cy="1073240"/>
          </a:xfrm>
          <a:prstGeom prst="rect">
            <a:avLst/>
          </a:prstGeom>
        </p:spPr>
      </p:pic>
      <p:pic>
        <p:nvPicPr>
          <p:cNvPr id="29" name="Picture 28">
            <a:extLst>
              <a:ext uri="{FF2B5EF4-FFF2-40B4-BE49-F238E27FC236}">
                <a16:creationId xmlns:a16="http://schemas.microsoft.com/office/drawing/2014/main" id="{27039FA2-9DAD-4F83-98E4-8C5292D1EADC}"/>
              </a:ext>
            </a:extLst>
          </p:cNvPr>
          <p:cNvPicPr>
            <a:picLocks noChangeAspect="1"/>
          </p:cNvPicPr>
          <p:nvPr/>
        </p:nvPicPr>
        <p:blipFill>
          <a:blip r:embed="rId11"/>
          <a:stretch>
            <a:fillRect/>
          </a:stretch>
        </p:blipFill>
        <p:spPr>
          <a:xfrm>
            <a:off x="4166089" y="5405717"/>
            <a:ext cx="1317812" cy="1317812"/>
          </a:xfrm>
          <a:prstGeom prst="rect">
            <a:avLst/>
          </a:prstGeom>
        </p:spPr>
      </p:pic>
      <p:pic>
        <p:nvPicPr>
          <p:cNvPr id="31" name="Picture 30">
            <a:extLst>
              <a:ext uri="{FF2B5EF4-FFF2-40B4-BE49-F238E27FC236}">
                <a16:creationId xmlns:a16="http://schemas.microsoft.com/office/drawing/2014/main" id="{EC08FADE-D269-43B3-86EF-FDFE2AFE5116}"/>
              </a:ext>
            </a:extLst>
          </p:cNvPr>
          <p:cNvPicPr>
            <a:picLocks noChangeAspect="1"/>
          </p:cNvPicPr>
          <p:nvPr/>
        </p:nvPicPr>
        <p:blipFill>
          <a:blip r:embed="rId12"/>
          <a:stretch>
            <a:fillRect/>
          </a:stretch>
        </p:blipFill>
        <p:spPr>
          <a:xfrm>
            <a:off x="8006874" y="5335099"/>
            <a:ext cx="1027601" cy="1027601"/>
          </a:xfrm>
          <a:prstGeom prst="rect">
            <a:avLst/>
          </a:prstGeom>
        </p:spPr>
      </p:pic>
      <p:pic>
        <p:nvPicPr>
          <p:cNvPr id="35" name="Picture 34">
            <a:extLst>
              <a:ext uri="{FF2B5EF4-FFF2-40B4-BE49-F238E27FC236}">
                <a16:creationId xmlns:a16="http://schemas.microsoft.com/office/drawing/2014/main" id="{2218C474-6E63-4136-92AC-3EB915DCC3E2}"/>
              </a:ext>
            </a:extLst>
          </p:cNvPr>
          <p:cNvPicPr>
            <a:picLocks noChangeAspect="1"/>
          </p:cNvPicPr>
          <p:nvPr/>
        </p:nvPicPr>
        <p:blipFill>
          <a:blip r:embed="rId13"/>
          <a:stretch>
            <a:fillRect/>
          </a:stretch>
        </p:blipFill>
        <p:spPr>
          <a:xfrm>
            <a:off x="2274296" y="313087"/>
            <a:ext cx="738867" cy="738867"/>
          </a:xfrm>
          <a:prstGeom prst="rect">
            <a:avLst/>
          </a:prstGeom>
        </p:spPr>
      </p:pic>
    </p:spTree>
    <p:extLst>
      <p:ext uri="{BB962C8B-B14F-4D97-AF65-F5344CB8AC3E}">
        <p14:creationId xmlns:p14="http://schemas.microsoft.com/office/powerpoint/2010/main" val="1829125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71FA-B519-4789-B8C5-50624ECFEF0A}"/>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Introduction to AstroSage Call Centre</a:t>
            </a:r>
          </a:p>
        </p:txBody>
      </p:sp>
      <p:sp>
        <p:nvSpPr>
          <p:cNvPr id="10" name="Content Placeholder 9">
            <a:extLst>
              <a:ext uri="{FF2B5EF4-FFF2-40B4-BE49-F238E27FC236}">
                <a16:creationId xmlns:a16="http://schemas.microsoft.com/office/drawing/2014/main" id="{0DFFA4B2-25B1-4749-AAB3-B92919DEF090}"/>
              </a:ext>
            </a:extLst>
          </p:cNvPr>
          <p:cNvSpPr>
            <a:spLocks noGrp="1"/>
          </p:cNvSpPr>
          <p:nvPr>
            <p:ph idx="1"/>
          </p:nvPr>
        </p:nvSpPr>
        <p:spPr/>
        <p:txBody>
          <a:bodyPr/>
          <a:lstStyle/>
          <a:p>
            <a:r>
              <a:rPr lang="en-IN" sz="1800" i="1" dirty="0">
                <a:latin typeface="Segoe UI" panose="020B0502040204020203" pitchFamily="34" charset="0"/>
              </a:rPr>
              <a:t>Founded in 2000</a:t>
            </a:r>
          </a:p>
          <a:p>
            <a:r>
              <a:rPr lang="en-IN" sz="1800" i="1" dirty="0">
                <a:latin typeface="Segoe UI" panose="020B0502040204020203" pitchFamily="34" charset="0"/>
              </a:rPr>
              <a:t>Founder Punit Pandey</a:t>
            </a:r>
          </a:p>
          <a:p>
            <a:r>
              <a:rPr lang="en-US" sz="1800" i="1" dirty="0">
                <a:latin typeface="Segoe UI" panose="020B0502040204020203" pitchFamily="34" charset="0"/>
              </a:rPr>
              <a:t> AstroSage is a leading, technologically advanced online platform that pioneered digital astrology by fusing traditional Indian wisdom with contemporary technology. </a:t>
            </a:r>
          </a:p>
          <a:p>
            <a:r>
              <a:rPr lang="en-US" sz="1800" i="1" dirty="0">
                <a:latin typeface="Segoe UI" panose="020B0502040204020203" pitchFamily="34" charset="0"/>
              </a:rPr>
              <a:t>Through its well-known website and Astrosage app, AstroSage offers services like horoscopes, birth charts, numerology, tarot readings, and live consultations with experts, making astrology accessible worldwide.</a:t>
            </a:r>
          </a:p>
          <a:p>
            <a:endParaRPr lang="en-IN" dirty="0"/>
          </a:p>
        </p:txBody>
      </p:sp>
      <p:pic>
        <p:nvPicPr>
          <p:cNvPr id="12" name="Picture 11">
            <a:extLst>
              <a:ext uri="{FF2B5EF4-FFF2-40B4-BE49-F238E27FC236}">
                <a16:creationId xmlns:a16="http://schemas.microsoft.com/office/drawing/2014/main" id="{0C4ACA8F-6328-4711-8B23-F30A8C4C5874}"/>
              </a:ext>
            </a:extLst>
          </p:cNvPr>
          <p:cNvPicPr>
            <a:picLocks noChangeAspect="1"/>
          </p:cNvPicPr>
          <p:nvPr/>
        </p:nvPicPr>
        <p:blipFill>
          <a:blip r:embed="rId2"/>
          <a:stretch>
            <a:fillRect/>
          </a:stretch>
        </p:blipFill>
        <p:spPr>
          <a:xfrm>
            <a:off x="9910484" y="306248"/>
            <a:ext cx="1443316" cy="1443316"/>
          </a:xfrm>
          <a:prstGeom prst="rect">
            <a:avLst/>
          </a:prstGeom>
        </p:spPr>
      </p:pic>
      <p:pic>
        <p:nvPicPr>
          <p:cNvPr id="16" name="Picture 15">
            <a:extLst>
              <a:ext uri="{FF2B5EF4-FFF2-40B4-BE49-F238E27FC236}">
                <a16:creationId xmlns:a16="http://schemas.microsoft.com/office/drawing/2014/main" id="{28391F0A-EE95-42F3-82A4-962E99E38FC5}"/>
              </a:ext>
            </a:extLst>
          </p:cNvPr>
          <p:cNvPicPr>
            <a:picLocks noChangeAspect="1"/>
          </p:cNvPicPr>
          <p:nvPr/>
        </p:nvPicPr>
        <p:blipFill>
          <a:blip r:embed="rId3"/>
          <a:stretch>
            <a:fillRect/>
          </a:stretch>
        </p:blipFill>
        <p:spPr>
          <a:xfrm>
            <a:off x="1560886" y="5086697"/>
            <a:ext cx="993802" cy="993802"/>
          </a:xfrm>
          <a:prstGeom prst="rect">
            <a:avLst/>
          </a:prstGeom>
        </p:spPr>
      </p:pic>
      <p:pic>
        <p:nvPicPr>
          <p:cNvPr id="18" name="Picture 17">
            <a:extLst>
              <a:ext uri="{FF2B5EF4-FFF2-40B4-BE49-F238E27FC236}">
                <a16:creationId xmlns:a16="http://schemas.microsoft.com/office/drawing/2014/main" id="{64C4D018-C35E-4849-AA66-07A598AF5CFE}"/>
              </a:ext>
            </a:extLst>
          </p:cNvPr>
          <p:cNvPicPr>
            <a:picLocks noChangeAspect="1"/>
          </p:cNvPicPr>
          <p:nvPr/>
        </p:nvPicPr>
        <p:blipFill>
          <a:blip r:embed="rId4"/>
          <a:stretch>
            <a:fillRect/>
          </a:stretch>
        </p:blipFill>
        <p:spPr>
          <a:xfrm>
            <a:off x="5090156" y="5239222"/>
            <a:ext cx="862409" cy="862409"/>
          </a:xfrm>
          <a:prstGeom prst="rect">
            <a:avLst/>
          </a:prstGeom>
        </p:spPr>
      </p:pic>
      <p:pic>
        <p:nvPicPr>
          <p:cNvPr id="20" name="Picture 19">
            <a:extLst>
              <a:ext uri="{FF2B5EF4-FFF2-40B4-BE49-F238E27FC236}">
                <a16:creationId xmlns:a16="http://schemas.microsoft.com/office/drawing/2014/main" id="{30A0936C-D20A-47AD-A7C3-89B612AC2C81}"/>
              </a:ext>
            </a:extLst>
          </p:cNvPr>
          <p:cNvPicPr>
            <a:picLocks noChangeAspect="1"/>
          </p:cNvPicPr>
          <p:nvPr/>
        </p:nvPicPr>
        <p:blipFill>
          <a:blip r:embed="rId5"/>
          <a:stretch>
            <a:fillRect/>
          </a:stretch>
        </p:blipFill>
        <p:spPr>
          <a:xfrm>
            <a:off x="8619425" y="5086697"/>
            <a:ext cx="1291059" cy="1090266"/>
          </a:xfrm>
          <a:prstGeom prst="rect">
            <a:avLst/>
          </a:prstGeom>
        </p:spPr>
      </p:pic>
    </p:spTree>
    <p:extLst>
      <p:ext uri="{BB962C8B-B14F-4D97-AF65-F5344CB8AC3E}">
        <p14:creationId xmlns:p14="http://schemas.microsoft.com/office/powerpoint/2010/main" val="1486881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FA8CF-EBB3-4A74-9195-4AA90C12118D}"/>
              </a:ext>
            </a:extLst>
          </p:cNvPr>
          <p:cNvSpPr>
            <a:spLocks noGrp="1"/>
          </p:cNvSpPr>
          <p:nvPr>
            <p:ph type="title"/>
          </p:nvPr>
        </p:nvSpPr>
        <p:spPr/>
        <p:txBody>
          <a:bodyPr>
            <a:normAutofit/>
          </a:bodyPr>
          <a:lstStyle/>
          <a:p>
            <a:pPr algn="ctr"/>
            <a:r>
              <a:rPr lang="en-IN" sz="3600" b="1" i="1" dirty="0">
                <a:latin typeface="Segoe UI" panose="020B0502040204020203" pitchFamily="34" charset="0"/>
                <a:cs typeface="Segoe UI" panose="020B0502040204020203" pitchFamily="34" charset="0"/>
              </a:rPr>
              <a:t>Problem Statement</a:t>
            </a:r>
          </a:p>
        </p:txBody>
      </p:sp>
      <p:sp>
        <p:nvSpPr>
          <p:cNvPr id="3" name="Content Placeholder 2">
            <a:extLst>
              <a:ext uri="{FF2B5EF4-FFF2-40B4-BE49-F238E27FC236}">
                <a16:creationId xmlns:a16="http://schemas.microsoft.com/office/drawing/2014/main" id="{C27568CC-9D34-48D6-B7C6-62C51CDFF7BF}"/>
              </a:ext>
            </a:extLst>
          </p:cNvPr>
          <p:cNvSpPr>
            <a:spLocks noGrp="1"/>
          </p:cNvSpPr>
          <p:nvPr>
            <p:ph idx="1"/>
          </p:nvPr>
        </p:nvSpPr>
        <p:spPr>
          <a:xfrm>
            <a:off x="838200" y="1825625"/>
            <a:ext cx="7687235" cy="2638799"/>
          </a:xfrm>
        </p:spPr>
        <p:txBody>
          <a:bodyPr/>
          <a:lstStyle/>
          <a:p>
            <a:pPr marL="342900" indent="-342900">
              <a:lnSpc>
                <a:spcPct val="115000"/>
              </a:lnSpc>
              <a:buFont typeface="Symbol" panose="05050102010706020507" pitchFamily="18" charset="2"/>
              <a:buChar char=""/>
            </a:pPr>
            <a:r>
              <a:rPr lang="en-US" sz="1800" i="1" dirty="0">
                <a:latin typeface="Segoe UI" panose="020B0502040204020203" pitchFamily="34" charset="0"/>
                <a:sym typeface="Lato"/>
              </a:rPr>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p>
          <a:p>
            <a:pPr marL="0" indent="0">
              <a:buNone/>
            </a:pPr>
            <a:endParaRPr lang="en-IN" dirty="0"/>
          </a:p>
          <a:p>
            <a:pPr marL="0" indent="0" algn="ctr">
              <a:buNone/>
            </a:pPr>
            <a:endParaRPr lang="en-IN" dirty="0"/>
          </a:p>
        </p:txBody>
      </p:sp>
      <p:pic>
        <p:nvPicPr>
          <p:cNvPr id="11" name="Picture 10">
            <a:extLst>
              <a:ext uri="{FF2B5EF4-FFF2-40B4-BE49-F238E27FC236}">
                <a16:creationId xmlns:a16="http://schemas.microsoft.com/office/drawing/2014/main" id="{8203DF12-04BF-471A-A2A9-62CFC3A38AA5}"/>
              </a:ext>
            </a:extLst>
          </p:cNvPr>
          <p:cNvPicPr>
            <a:picLocks noChangeAspect="1"/>
          </p:cNvPicPr>
          <p:nvPr/>
        </p:nvPicPr>
        <p:blipFill>
          <a:blip r:embed="rId2"/>
          <a:stretch>
            <a:fillRect/>
          </a:stretch>
        </p:blipFill>
        <p:spPr>
          <a:xfrm>
            <a:off x="650594" y="4382295"/>
            <a:ext cx="1518210" cy="1518210"/>
          </a:xfrm>
          <a:prstGeom prst="rect">
            <a:avLst/>
          </a:prstGeom>
        </p:spPr>
      </p:pic>
      <p:pic>
        <p:nvPicPr>
          <p:cNvPr id="13" name="Picture 12">
            <a:extLst>
              <a:ext uri="{FF2B5EF4-FFF2-40B4-BE49-F238E27FC236}">
                <a16:creationId xmlns:a16="http://schemas.microsoft.com/office/drawing/2014/main" id="{4FCB57BE-283D-40D1-97FC-769D924A9634}"/>
              </a:ext>
            </a:extLst>
          </p:cNvPr>
          <p:cNvPicPr>
            <a:picLocks noChangeAspect="1"/>
          </p:cNvPicPr>
          <p:nvPr/>
        </p:nvPicPr>
        <p:blipFill>
          <a:blip r:embed="rId3"/>
          <a:stretch>
            <a:fillRect/>
          </a:stretch>
        </p:blipFill>
        <p:spPr>
          <a:xfrm>
            <a:off x="9112625" y="443381"/>
            <a:ext cx="1573304" cy="1573304"/>
          </a:xfrm>
          <a:prstGeom prst="rect">
            <a:avLst/>
          </a:prstGeom>
        </p:spPr>
      </p:pic>
      <p:pic>
        <p:nvPicPr>
          <p:cNvPr id="15" name="Picture 14">
            <a:extLst>
              <a:ext uri="{FF2B5EF4-FFF2-40B4-BE49-F238E27FC236}">
                <a16:creationId xmlns:a16="http://schemas.microsoft.com/office/drawing/2014/main" id="{342D40D4-F06E-438B-8C51-21150FB5BB1A}"/>
              </a:ext>
            </a:extLst>
          </p:cNvPr>
          <p:cNvPicPr>
            <a:picLocks noChangeAspect="1"/>
          </p:cNvPicPr>
          <p:nvPr/>
        </p:nvPicPr>
        <p:blipFill>
          <a:blip r:embed="rId4"/>
          <a:stretch>
            <a:fillRect/>
          </a:stretch>
        </p:blipFill>
        <p:spPr>
          <a:xfrm>
            <a:off x="3198158" y="4360748"/>
            <a:ext cx="1945809" cy="1945809"/>
          </a:xfrm>
          <a:prstGeom prst="rect">
            <a:avLst/>
          </a:prstGeom>
        </p:spPr>
      </p:pic>
      <p:pic>
        <p:nvPicPr>
          <p:cNvPr id="17" name="Picture 16">
            <a:extLst>
              <a:ext uri="{FF2B5EF4-FFF2-40B4-BE49-F238E27FC236}">
                <a16:creationId xmlns:a16="http://schemas.microsoft.com/office/drawing/2014/main" id="{47CA8CC1-2E48-4A51-B9F4-F30D8DBF1858}"/>
              </a:ext>
            </a:extLst>
          </p:cNvPr>
          <p:cNvPicPr>
            <a:picLocks noChangeAspect="1"/>
          </p:cNvPicPr>
          <p:nvPr/>
        </p:nvPicPr>
        <p:blipFill>
          <a:blip r:embed="rId5"/>
          <a:stretch>
            <a:fillRect/>
          </a:stretch>
        </p:blipFill>
        <p:spPr>
          <a:xfrm>
            <a:off x="6247933" y="4427983"/>
            <a:ext cx="1806388" cy="1806388"/>
          </a:xfrm>
          <a:prstGeom prst="rect">
            <a:avLst/>
          </a:prstGeom>
        </p:spPr>
      </p:pic>
      <p:pic>
        <p:nvPicPr>
          <p:cNvPr id="19" name="Picture 18">
            <a:extLst>
              <a:ext uri="{FF2B5EF4-FFF2-40B4-BE49-F238E27FC236}">
                <a16:creationId xmlns:a16="http://schemas.microsoft.com/office/drawing/2014/main" id="{370E30A2-B4CE-4AEE-8B82-7EA0761889FA}"/>
              </a:ext>
            </a:extLst>
          </p:cNvPr>
          <p:cNvPicPr>
            <a:picLocks noChangeAspect="1"/>
          </p:cNvPicPr>
          <p:nvPr/>
        </p:nvPicPr>
        <p:blipFill>
          <a:blip r:embed="rId6"/>
          <a:stretch>
            <a:fillRect/>
          </a:stretch>
        </p:blipFill>
        <p:spPr>
          <a:xfrm>
            <a:off x="9395012" y="4382294"/>
            <a:ext cx="1662299" cy="1662299"/>
          </a:xfrm>
          <a:prstGeom prst="rect">
            <a:avLst/>
          </a:prstGeom>
        </p:spPr>
      </p:pic>
      <p:pic>
        <p:nvPicPr>
          <p:cNvPr id="21" name="Picture 20">
            <a:extLst>
              <a:ext uri="{FF2B5EF4-FFF2-40B4-BE49-F238E27FC236}">
                <a16:creationId xmlns:a16="http://schemas.microsoft.com/office/drawing/2014/main" id="{21D06F76-6454-4ADD-9982-00F36887B650}"/>
              </a:ext>
            </a:extLst>
          </p:cNvPr>
          <p:cNvPicPr>
            <a:picLocks noChangeAspect="1"/>
          </p:cNvPicPr>
          <p:nvPr/>
        </p:nvPicPr>
        <p:blipFill>
          <a:blip r:embed="rId7"/>
          <a:stretch>
            <a:fillRect/>
          </a:stretch>
        </p:blipFill>
        <p:spPr>
          <a:xfrm flipH="1">
            <a:off x="1272891" y="443381"/>
            <a:ext cx="1129649" cy="1129649"/>
          </a:xfrm>
          <a:prstGeom prst="rect">
            <a:avLst/>
          </a:prstGeom>
        </p:spPr>
      </p:pic>
    </p:spTree>
    <p:extLst>
      <p:ext uri="{BB962C8B-B14F-4D97-AF65-F5344CB8AC3E}">
        <p14:creationId xmlns:p14="http://schemas.microsoft.com/office/powerpoint/2010/main" val="463681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9A43F-102A-40B6-805B-B9BC51804BB5}"/>
              </a:ext>
            </a:extLst>
          </p:cNvPr>
          <p:cNvSpPr>
            <a:spLocks noGrp="1"/>
          </p:cNvSpPr>
          <p:nvPr>
            <p:ph type="title"/>
          </p:nvPr>
        </p:nvSpPr>
        <p:spPr/>
        <p:txBody>
          <a:bodyPr/>
          <a:lstStyle/>
          <a:p>
            <a:pPr algn="ctr"/>
            <a:r>
              <a:rPr lang="en-IN" i="1" dirty="0">
                <a:latin typeface="Segoe UI" panose="020B0502040204020203" pitchFamily="34" charset="0"/>
                <a:cs typeface="Segoe UI" panose="020B0502040204020203" pitchFamily="34" charset="0"/>
              </a:rPr>
              <a:t>Data Overview</a:t>
            </a:r>
          </a:p>
        </p:txBody>
      </p:sp>
      <p:pic>
        <p:nvPicPr>
          <p:cNvPr id="5" name="Content Placeholder 4">
            <a:extLst>
              <a:ext uri="{FF2B5EF4-FFF2-40B4-BE49-F238E27FC236}">
                <a16:creationId xmlns:a16="http://schemas.microsoft.com/office/drawing/2014/main" id="{23C1C871-42A1-4F3B-8F0F-71B93FEA8800}"/>
              </a:ext>
            </a:extLst>
          </p:cNvPr>
          <p:cNvPicPr>
            <a:picLocks noGrp="1" noChangeAspect="1"/>
          </p:cNvPicPr>
          <p:nvPr>
            <p:ph idx="1"/>
          </p:nvPr>
        </p:nvPicPr>
        <p:blipFill rotWithShape="1">
          <a:blip r:embed="rId2"/>
          <a:srcRect t="1458"/>
          <a:stretch/>
        </p:blipFill>
        <p:spPr>
          <a:xfrm>
            <a:off x="247650" y="1866900"/>
            <a:ext cx="11525250" cy="4058191"/>
          </a:xfrm>
        </p:spPr>
      </p:pic>
      <p:pic>
        <p:nvPicPr>
          <p:cNvPr id="9" name="Picture 8">
            <a:extLst>
              <a:ext uri="{FF2B5EF4-FFF2-40B4-BE49-F238E27FC236}">
                <a16:creationId xmlns:a16="http://schemas.microsoft.com/office/drawing/2014/main" id="{F47B8A13-9F49-49F6-ACAB-97F203F651CA}"/>
              </a:ext>
            </a:extLst>
          </p:cNvPr>
          <p:cNvPicPr>
            <a:picLocks noChangeAspect="1"/>
          </p:cNvPicPr>
          <p:nvPr/>
        </p:nvPicPr>
        <p:blipFill>
          <a:blip r:embed="rId3"/>
          <a:stretch>
            <a:fillRect/>
          </a:stretch>
        </p:blipFill>
        <p:spPr>
          <a:xfrm>
            <a:off x="9314328" y="744071"/>
            <a:ext cx="946616" cy="946616"/>
          </a:xfrm>
          <a:prstGeom prst="rect">
            <a:avLst/>
          </a:prstGeom>
        </p:spPr>
      </p:pic>
      <p:pic>
        <p:nvPicPr>
          <p:cNvPr id="13" name="Picture 12">
            <a:extLst>
              <a:ext uri="{FF2B5EF4-FFF2-40B4-BE49-F238E27FC236}">
                <a16:creationId xmlns:a16="http://schemas.microsoft.com/office/drawing/2014/main" id="{C29D4A09-FBA1-49B2-AB69-0C90064D05FD}"/>
              </a:ext>
            </a:extLst>
          </p:cNvPr>
          <p:cNvPicPr>
            <a:picLocks noChangeAspect="1"/>
          </p:cNvPicPr>
          <p:nvPr/>
        </p:nvPicPr>
        <p:blipFill>
          <a:blip r:embed="rId4"/>
          <a:stretch>
            <a:fillRect/>
          </a:stretch>
        </p:blipFill>
        <p:spPr>
          <a:xfrm>
            <a:off x="1326778" y="833717"/>
            <a:ext cx="856969" cy="856969"/>
          </a:xfrm>
          <a:prstGeom prst="rect">
            <a:avLst/>
          </a:prstGeom>
        </p:spPr>
      </p:pic>
    </p:spTree>
    <p:extLst>
      <p:ext uri="{BB962C8B-B14F-4D97-AF65-F5344CB8AC3E}">
        <p14:creationId xmlns:p14="http://schemas.microsoft.com/office/powerpoint/2010/main" val="2399759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E4FA3-C499-4E01-A974-2E544E14C3B6}"/>
              </a:ext>
            </a:extLst>
          </p:cNvPr>
          <p:cNvSpPr>
            <a:spLocks noGrp="1"/>
          </p:cNvSpPr>
          <p:nvPr>
            <p:ph type="title"/>
          </p:nvPr>
        </p:nvSpPr>
        <p:spPr/>
        <p:txBody>
          <a:bodyPr>
            <a:normAutofit/>
          </a:bodyPr>
          <a:lstStyle/>
          <a:p>
            <a:pPr algn="ctr"/>
            <a:r>
              <a:rPr lang="en-IN" sz="4000" b="1" i="1" dirty="0">
                <a:latin typeface="Segoe UI" panose="020B0502040204020203" pitchFamily="34" charset="0"/>
                <a:cs typeface="Segoe UI" panose="020B0502040204020203" pitchFamily="34" charset="0"/>
              </a:rPr>
              <a:t>Data Overview</a:t>
            </a:r>
          </a:p>
        </p:txBody>
      </p:sp>
      <p:sp>
        <p:nvSpPr>
          <p:cNvPr id="3" name="Content Placeholder 2">
            <a:extLst>
              <a:ext uri="{FF2B5EF4-FFF2-40B4-BE49-F238E27FC236}">
                <a16:creationId xmlns:a16="http://schemas.microsoft.com/office/drawing/2014/main" id="{8323F264-C25B-4EE0-A677-A8AC153C66B9}"/>
              </a:ext>
            </a:extLst>
          </p:cNvPr>
          <p:cNvSpPr>
            <a:spLocks noGrp="1"/>
          </p:cNvSpPr>
          <p:nvPr>
            <p:ph idx="1"/>
          </p:nvPr>
        </p:nvSpPr>
        <p:spPr>
          <a:xfrm>
            <a:off x="838200" y="1825625"/>
            <a:ext cx="5966012" cy="4351338"/>
          </a:xfrm>
        </p:spPr>
        <p:txBody>
          <a:bodyPr/>
          <a:lstStyle/>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28027 Distinct users</a:t>
            </a:r>
          </a:p>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149 Gurus in total</a:t>
            </a:r>
          </a:p>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8513 Calls </a:t>
            </a:r>
          </a:p>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19514 Chats </a:t>
            </a:r>
          </a:p>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December and January are months</a:t>
            </a:r>
          </a:p>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Year: 2023 ,2024</a:t>
            </a:r>
          </a:p>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The analysis majorly revolves around these factors</a:t>
            </a:r>
          </a:p>
        </p:txBody>
      </p:sp>
      <p:pic>
        <p:nvPicPr>
          <p:cNvPr id="7" name="Picture 6">
            <a:extLst>
              <a:ext uri="{FF2B5EF4-FFF2-40B4-BE49-F238E27FC236}">
                <a16:creationId xmlns:a16="http://schemas.microsoft.com/office/drawing/2014/main" id="{E78B3CE5-A6FB-40DA-80B1-4056D6FA88EB}"/>
              </a:ext>
            </a:extLst>
          </p:cNvPr>
          <p:cNvPicPr>
            <a:picLocks noChangeAspect="1"/>
          </p:cNvPicPr>
          <p:nvPr/>
        </p:nvPicPr>
        <p:blipFill>
          <a:blip r:embed="rId2"/>
          <a:stretch>
            <a:fillRect/>
          </a:stretch>
        </p:blipFill>
        <p:spPr>
          <a:xfrm>
            <a:off x="8417858" y="1653987"/>
            <a:ext cx="914401" cy="914401"/>
          </a:xfrm>
          <a:prstGeom prst="rect">
            <a:avLst/>
          </a:prstGeom>
        </p:spPr>
      </p:pic>
      <p:pic>
        <p:nvPicPr>
          <p:cNvPr id="9" name="Picture 8">
            <a:extLst>
              <a:ext uri="{FF2B5EF4-FFF2-40B4-BE49-F238E27FC236}">
                <a16:creationId xmlns:a16="http://schemas.microsoft.com/office/drawing/2014/main" id="{476C09CE-06A7-4E9C-917D-ECF221A6EED1}"/>
              </a:ext>
            </a:extLst>
          </p:cNvPr>
          <p:cNvPicPr>
            <a:picLocks noChangeAspect="1"/>
          </p:cNvPicPr>
          <p:nvPr/>
        </p:nvPicPr>
        <p:blipFill>
          <a:blip r:embed="rId3"/>
          <a:stretch>
            <a:fillRect/>
          </a:stretch>
        </p:blipFill>
        <p:spPr>
          <a:xfrm>
            <a:off x="10318377" y="3281083"/>
            <a:ext cx="927846" cy="927846"/>
          </a:xfrm>
          <a:prstGeom prst="rect">
            <a:avLst/>
          </a:prstGeom>
        </p:spPr>
      </p:pic>
      <p:pic>
        <p:nvPicPr>
          <p:cNvPr id="11" name="Picture 10">
            <a:extLst>
              <a:ext uri="{FF2B5EF4-FFF2-40B4-BE49-F238E27FC236}">
                <a16:creationId xmlns:a16="http://schemas.microsoft.com/office/drawing/2014/main" id="{C6965EFB-B5E2-4D7D-9296-DD2D65353EC0}"/>
              </a:ext>
            </a:extLst>
          </p:cNvPr>
          <p:cNvPicPr>
            <a:picLocks noChangeAspect="1"/>
          </p:cNvPicPr>
          <p:nvPr/>
        </p:nvPicPr>
        <p:blipFill>
          <a:blip r:embed="rId4"/>
          <a:stretch>
            <a:fillRect/>
          </a:stretch>
        </p:blipFill>
        <p:spPr>
          <a:xfrm>
            <a:off x="8594913" y="3323665"/>
            <a:ext cx="842681" cy="842681"/>
          </a:xfrm>
          <a:prstGeom prst="rect">
            <a:avLst/>
          </a:prstGeom>
        </p:spPr>
      </p:pic>
      <p:pic>
        <p:nvPicPr>
          <p:cNvPr id="13" name="Picture 12">
            <a:extLst>
              <a:ext uri="{FF2B5EF4-FFF2-40B4-BE49-F238E27FC236}">
                <a16:creationId xmlns:a16="http://schemas.microsoft.com/office/drawing/2014/main" id="{E899E912-574C-4156-8102-0209B67E50DD}"/>
              </a:ext>
            </a:extLst>
          </p:cNvPr>
          <p:cNvPicPr>
            <a:picLocks noChangeAspect="1"/>
          </p:cNvPicPr>
          <p:nvPr/>
        </p:nvPicPr>
        <p:blipFill>
          <a:blip r:embed="rId5"/>
          <a:stretch>
            <a:fillRect/>
          </a:stretch>
        </p:blipFill>
        <p:spPr>
          <a:xfrm>
            <a:off x="9749115" y="2111187"/>
            <a:ext cx="914402" cy="914402"/>
          </a:xfrm>
          <a:prstGeom prst="rect">
            <a:avLst/>
          </a:prstGeom>
        </p:spPr>
      </p:pic>
      <p:pic>
        <p:nvPicPr>
          <p:cNvPr id="15" name="Picture 14">
            <a:extLst>
              <a:ext uri="{FF2B5EF4-FFF2-40B4-BE49-F238E27FC236}">
                <a16:creationId xmlns:a16="http://schemas.microsoft.com/office/drawing/2014/main" id="{8FA4516E-DA8F-4672-A60D-9626B7FB18AB}"/>
              </a:ext>
            </a:extLst>
          </p:cNvPr>
          <p:cNvPicPr>
            <a:picLocks noChangeAspect="1"/>
          </p:cNvPicPr>
          <p:nvPr/>
        </p:nvPicPr>
        <p:blipFill>
          <a:blip r:embed="rId6"/>
          <a:stretch>
            <a:fillRect/>
          </a:stretch>
        </p:blipFill>
        <p:spPr>
          <a:xfrm>
            <a:off x="9491382" y="4615984"/>
            <a:ext cx="842681" cy="842681"/>
          </a:xfrm>
          <a:prstGeom prst="rect">
            <a:avLst/>
          </a:prstGeom>
        </p:spPr>
      </p:pic>
    </p:spTree>
    <p:extLst>
      <p:ext uri="{BB962C8B-B14F-4D97-AF65-F5344CB8AC3E}">
        <p14:creationId xmlns:p14="http://schemas.microsoft.com/office/powerpoint/2010/main" val="2240637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7620-6451-449A-B4AF-3CBC9E3A03C8}"/>
              </a:ext>
            </a:extLst>
          </p:cNvPr>
          <p:cNvSpPr>
            <a:spLocks noGrp="1"/>
          </p:cNvSpPr>
          <p:nvPr>
            <p:ph type="title"/>
          </p:nvPr>
        </p:nvSpPr>
        <p:spPr/>
        <p:txBody>
          <a:bodyPr>
            <a:normAutofit/>
          </a:bodyPr>
          <a:lstStyle/>
          <a:p>
            <a:pPr algn="ctr"/>
            <a:r>
              <a:rPr lang="en-IN" sz="4000" b="1" i="1" dirty="0">
                <a:latin typeface="Segoe UI" panose="020B0502040204020203" pitchFamily="34" charset="0"/>
                <a:cs typeface="Segoe UI" panose="020B0502040204020203" pitchFamily="34" charset="0"/>
              </a:rPr>
              <a:t>Data Cleaning </a:t>
            </a:r>
          </a:p>
        </p:txBody>
      </p:sp>
      <p:sp>
        <p:nvSpPr>
          <p:cNvPr id="3" name="Content Placeholder 2">
            <a:extLst>
              <a:ext uri="{FF2B5EF4-FFF2-40B4-BE49-F238E27FC236}">
                <a16:creationId xmlns:a16="http://schemas.microsoft.com/office/drawing/2014/main" id="{54789E03-47DA-4CC0-949E-1A471C6E3B14}"/>
              </a:ext>
            </a:extLst>
          </p:cNvPr>
          <p:cNvSpPr>
            <a:spLocks noGrp="1"/>
          </p:cNvSpPr>
          <p:nvPr>
            <p:ph idx="1"/>
          </p:nvPr>
        </p:nvSpPr>
        <p:spPr>
          <a:xfrm>
            <a:off x="838200" y="1825625"/>
            <a:ext cx="6414247" cy="3902822"/>
          </a:xfrm>
        </p:spPr>
        <p:txBody>
          <a:bodyPr/>
          <a:lstStyle/>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Before we proceed with any data make sure that there are no duplicates is the essential step</a:t>
            </a:r>
          </a:p>
          <a:p>
            <a:pPr marL="342900" indent="-342900">
              <a:lnSpc>
                <a:spcPct val="115000"/>
              </a:lnSpc>
              <a:spcAft>
                <a:spcPts val="1000"/>
              </a:spcAft>
              <a:buFont typeface="Symbol" panose="05050102010706020507" pitchFamily="18" charset="2"/>
              <a:buChar char=""/>
            </a:pPr>
            <a:r>
              <a:rPr lang="en-IN" sz="1800" i="1" dirty="0">
                <a:latin typeface="Segoe UI" panose="020B0502040204020203" pitchFamily="34" charset="0"/>
              </a:rPr>
              <a:t>Derived new columns such as Date, Month, Year, Day, Hour for date wise reports</a:t>
            </a:r>
          </a:p>
          <a:p>
            <a:pPr marL="342900" indent="-342900">
              <a:lnSpc>
                <a:spcPct val="115000"/>
              </a:lnSpc>
              <a:spcAft>
                <a:spcPts val="1000"/>
              </a:spcAft>
              <a:buFont typeface="Symbol" panose="05050102010706020507" pitchFamily="18" charset="2"/>
              <a:buChar char=""/>
            </a:pPr>
            <a:r>
              <a:rPr lang="en-US" sz="1800" i="1" dirty="0">
                <a:latin typeface="Segoe UI" panose="020B0502040204020203" pitchFamily="34" charset="0"/>
              </a:rPr>
              <a:t>To comprehend operational costs, customer satisfaction, and call center sales trends, a good dataset is essential.</a:t>
            </a:r>
          </a:p>
          <a:p>
            <a:pPr marL="342900" indent="-342900">
              <a:lnSpc>
                <a:spcPct val="115000"/>
              </a:lnSpc>
              <a:spcAft>
                <a:spcPts val="1000"/>
              </a:spcAft>
              <a:buFont typeface="Symbol" panose="05050102010706020507" pitchFamily="18" charset="2"/>
              <a:buChar char=""/>
            </a:pPr>
            <a:r>
              <a:rPr lang="en-US" sz="1800" i="1" dirty="0">
                <a:latin typeface="Segoe UI" panose="020B0502040204020203" pitchFamily="34" charset="0"/>
              </a:rPr>
              <a:t>We can forecast and recommend future investments to increase sales turnover thanks to this dataset.</a:t>
            </a:r>
          </a:p>
          <a:p>
            <a:endParaRPr lang="en-IN" dirty="0"/>
          </a:p>
        </p:txBody>
      </p:sp>
      <p:pic>
        <p:nvPicPr>
          <p:cNvPr id="7" name="Picture 6">
            <a:extLst>
              <a:ext uri="{FF2B5EF4-FFF2-40B4-BE49-F238E27FC236}">
                <a16:creationId xmlns:a16="http://schemas.microsoft.com/office/drawing/2014/main" id="{08BE0486-49D3-4DB8-B89B-6F2FDD85DB93}"/>
              </a:ext>
            </a:extLst>
          </p:cNvPr>
          <p:cNvPicPr>
            <a:picLocks noChangeAspect="1"/>
          </p:cNvPicPr>
          <p:nvPr/>
        </p:nvPicPr>
        <p:blipFill>
          <a:blip r:embed="rId2"/>
          <a:stretch>
            <a:fillRect/>
          </a:stretch>
        </p:blipFill>
        <p:spPr>
          <a:xfrm>
            <a:off x="2160495" y="5579875"/>
            <a:ext cx="671232" cy="671232"/>
          </a:xfrm>
          <a:prstGeom prst="rect">
            <a:avLst/>
          </a:prstGeom>
        </p:spPr>
      </p:pic>
      <p:pic>
        <p:nvPicPr>
          <p:cNvPr id="9" name="Picture 8">
            <a:extLst>
              <a:ext uri="{FF2B5EF4-FFF2-40B4-BE49-F238E27FC236}">
                <a16:creationId xmlns:a16="http://schemas.microsoft.com/office/drawing/2014/main" id="{9E929B79-4905-4E97-A9E9-DAB6BB74A17D}"/>
              </a:ext>
            </a:extLst>
          </p:cNvPr>
          <p:cNvPicPr>
            <a:picLocks noChangeAspect="1"/>
          </p:cNvPicPr>
          <p:nvPr/>
        </p:nvPicPr>
        <p:blipFill>
          <a:blip r:embed="rId3"/>
          <a:stretch>
            <a:fillRect/>
          </a:stretch>
        </p:blipFill>
        <p:spPr>
          <a:xfrm>
            <a:off x="5665694" y="5579875"/>
            <a:ext cx="775447" cy="775447"/>
          </a:xfrm>
          <a:prstGeom prst="rect">
            <a:avLst/>
          </a:prstGeom>
        </p:spPr>
      </p:pic>
      <p:pic>
        <p:nvPicPr>
          <p:cNvPr id="11" name="Picture 10">
            <a:extLst>
              <a:ext uri="{FF2B5EF4-FFF2-40B4-BE49-F238E27FC236}">
                <a16:creationId xmlns:a16="http://schemas.microsoft.com/office/drawing/2014/main" id="{4623F753-6F15-4489-B6DE-BEE079F9496F}"/>
              </a:ext>
            </a:extLst>
          </p:cNvPr>
          <p:cNvPicPr>
            <a:picLocks noChangeAspect="1"/>
          </p:cNvPicPr>
          <p:nvPr/>
        </p:nvPicPr>
        <p:blipFill>
          <a:blip r:embed="rId4"/>
          <a:stretch>
            <a:fillRect/>
          </a:stretch>
        </p:blipFill>
        <p:spPr>
          <a:xfrm>
            <a:off x="9379324" y="5579874"/>
            <a:ext cx="775447" cy="775447"/>
          </a:xfrm>
          <a:prstGeom prst="rect">
            <a:avLst/>
          </a:prstGeom>
        </p:spPr>
      </p:pic>
      <p:pic>
        <p:nvPicPr>
          <p:cNvPr id="13" name="Picture 12">
            <a:extLst>
              <a:ext uri="{FF2B5EF4-FFF2-40B4-BE49-F238E27FC236}">
                <a16:creationId xmlns:a16="http://schemas.microsoft.com/office/drawing/2014/main" id="{3BA475E8-125A-452C-A7C9-55D1AE7833B4}"/>
              </a:ext>
            </a:extLst>
          </p:cNvPr>
          <p:cNvPicPr>
            <a:picLocks noChangeAspect="1"/>
          </p:cNvPicPr>
          <p:nvPr/>
        </p:nvPicPr>
        <p:blipFill>
          <a:blip r:embed="rId5"/>
          <a:stretch>
            <a:fillRect/>
          </a:stretch>
        </p:blipFill>
        <p:spPr>
          <a:xfrm>
            <a:off x="8516471" y="1813204"/>
            <a:ext cx="2837329" cy="2837329"/>
          </a:xfrm>
          <a:prstGeom prst="rect">
            <a:avLst/>
          </a:prstGeom>
        </p:spPr>
      </p:pic>
    </p:spTree>
    <p:extLst>
      <p:ext uri="{BB962C8B-B14F-4D97-AF65-F5344CB8AC3E}">
        <p14:creationId xmlns:p14="http://schemas.microsoft.com/office/powerpoint/2010/main" val="638519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D62EC-7476-4CFE-B2B1-AE1EE8EF2F46}"/>
              </a:ext>
            </a:extLst>
          </p:cNvPr>
          <p:cNvSpPr>
            <a:spLocks noGrp="1"/>
          </p:cNvSpPr>
          <p:nvPr>
            <p:ph type="title"/>
          </p:nvPr>
        </p:nvSpPr>
        <p:spPr/>
        <p:txBody>
          <a:bodyPr>
            <a:normAutofit/>
          </a:bodyPr>
          <a:lstStyle/>
          <a:p>
            <a:pPr algn="ctr"/>
            <a:r>
              <a:rPr lang="en-IN" sz="3600" b="1" i="1" dirty="0">
                <a:latin typeface="Segoe UI" panose="020B0502040204020203" pitchFamily="34" charset="0"/>
                <a:cs typeface="Segoe UI" panose="020B0502040204020203" pitchFamily="34" charset="0"/>
              </a:rPr>
              <a:t>Analysis using excel knowledge</a:t>
            </a:r>
          </a:p>
        </p:txBody>
      </p:sp>
      <p:sp>
        <p:nvSpPr>
          <p:cNvPr id="3" name="Content Placeholder 2">
            <a:extLst>
              <a:ext uri="{FF2B5EF4-FFF2-40B4-BE49-F238E27FC236}">
                <a16:creationId xmlns:a16="http://schemas.microsoft.com/office/drawing/2014/main" id="{C1EEF7A3-AD35-4A11-99B6-A727B50EFC62}"/>
              </a:ext>
            </a:extLst>
          </p:cNvPr>
          <p:cNvSpPr>
            <a:spLocks noGrp="1"/>
          </p:cNvSpPr>
          <p:nvPr>
            <p:ph idx="1"/>
          </p:nvPr>
        </p:nvSpPr>
        <p:spPr>
          <a:xfrm>
            <a:off x="838200" y="2141537"/>
            <a:ext cx="6808694" cy="2914557"/>
          </a:xfrm>
        </p:spPr>
        <p:txBody>
          <a:bodyPr/>
          <a:lstStyle/>
          <a:p>
            <a:r>
              <a:rPr lang="en-IN" sz="1800" i="1" dirty="0">
                <a:latin typeface="Segoe UI" panose="020B0502040204020203" pitchFamily="34" charset="0"/>
              </a:rPr>
              <a:t>Used  DATE, TEXT, HOUR functions to derive new columns</a:t>
            </a:r>
          </a:p>
          <a:p>
            <a:r>
              <a:rPr lang="en-IN" sz="1800" i="1" dirty="0">
                <a:latin typeface="Segoe UI" panose="020B0502040204020203" pitchFamily="34" charset="0"/>
              </a:rPr>
              <a:t>Aggregation formulas such as Count, Average, Sum, etc</a:t>
            </a:r>
          </a:p>
          <a:p>
            <a:r>
              <a:rPr lang="en-IN" sz="1800" i="1" dirty="0">
                <a:latin typeface="Segoe UI" panose="020B0502040204020203" pitchFamily="34" charset="0"/>
              </a:rPr>
              <a:t>Used sorting and filter methods in pivot tables </a:t>
            </a:r>
          </a:p>
          <a:p>
            <a:r>
              <a:rPr lang="en-IN" sz="1800" i="1" dirty="0">
                <a:latin typeface="Segoe UI" panose="020B0502040204020203" pitchFamily="34" charset="0"/>
              </a:rPr>
              <a:t>Created charts for better display of analysis </a:t>
            </a:r>
          </a:p>
          <a:p>
            <a:r>
              <a:rPr lang="en-IN" sz="1800" i="1" dirty="0">
                <a:latin typeface="Segoe UI" panose="020B0502040204020203" pitchFamily="34" charset="0"/>
              </a:rPr>
              <a:t>A final dashboard with all the charts, slicers KPIs</a:t>
            </a:r>
          </a:p>
          <a:p>
            <a:endParaRPr lang="en-IN" dirty="0"/>
          </a:p>
          <a:p>
            <a:endParaRPr lang="en-IN" dirty="0"/>
          </a:p>
        </p:txBody>
      </p:sp>
      <p:pic>
        <p:nvPicPr>
          <p:cNvPr id="5" name="Picture 4">
            <a:extLst>
              <a:ext uri="{FF2B5EF4-FFF2-40B4-BE49-F238E27FC236}">
                <a16:creationId xmlns:a16="http://schemas.microsoft.com/office/drawing/2014/main" id="{BB9ED14A-D6A1-43E4-AFF1-E5A2A548D9EB}"/>
              </a:ext>
            </a:extLst>
          </p:cNvPr>
          <p:cNvPicPr>
            <a:picLocks noChangeAspect="1"/>
          </p:cNvPicPr>
          <p:nvPr/>
        </p:nvPicPr>
        <p:blipFill>
          <a:blip r:embed="rId2"/>
          <a:stretch>
            <a:fillRect/>
          </a:stretch>
        </p:blipFill>
        <p:spPr>
          <a:xfrm>
            <a:off x="1461248" y="5182812"/>
            <a:ext cx="1211449" cy="1211449"/>
          </a:xfrm>
          <a:prstGeom prst="rect">
            <a:avLst/>
          </a:prstGeom>
        </p:spPr>
      </p:pic>
      <p:pic>
        <p:nvPicPr>
          <p:cNvPr id="7" name="Picture 6">
            <a:extLst>
              <a:ext uri="{FF2B5EF4-FFF2-40B4-BE49-F238E27FC236}">
                <a16:creationId xmlns:a16="http://schemas.microsoft.com/office/drawing/2014/main" id="{30B4A4E7-8171-4A02-94B7-B65E524AEC65}"/>
              </a:ext>
            </a:extLst>
          </p:cNvPr>
          <p:cNvPicPr>
            <a:picLocks noChangeAspect="1"/>
          </p:cNvPicPr>
          <p:nvPr/>
        </p:nvPicPr>
        <p:blipFill>
          <a:blip r:embed="rId3"/>
          <a:stretch>
            <a:fillRect/>
          </a:stretch>
        </p:blipFill>
        <p:spPr>
          <a:xfrm>
            <a:off x="5468470" y="5506943"/>
            <a:ext cx="760599" cy="760599"/>
          </a:xfrm>
          <a:prstGeom prst="rect">
            <a:avLst/>
          </a:prstGeom>
        </p:spPr>
      </p:pic>
      <p:pic>
        <p:nvPicPr>
          <p:cNvPr id="9" name="Picture 8">
            <a:extLst>
              <a:ext uri="{FF2B5EF4-FFF2-40B4-BE49-F238E27FC236}">
                <a16:creationId xmlns:a16="http://schemas.microsoft.com/office/drawing/2014/main" id="{BE0FE047-4E26-4089-9E9B-FDB510BE7E1A}"/>
              </a:ext>
            </a:extLst>
          </p:cNvPr>
          <p:cNvPicPr>
            <a:picLocks noChangeAspect="1"/>
          </p:cNvPicPr>
          <p:nvPr/>
        </p:nvPicPr>
        <p:blipFill>
          <a:blip r:embed="rId4"/>
          <a:stretch>
            <a:fillRect/>
          </a:stretch>
        </p:blipFill>
        <p:spPr>
          <a:xfrm>
            <a:off x="9386047" y="5401234"/>
            <a:ext cx="824753" cy="824753"/>
          </a:xfrm>
          <a:prstGeom prst="rect">
            <a:avLst/>
          </a:prstGeom>
        </p:spPr>
      </p:pic>
      <p:pic>
        <p:nvPicPr>
          <p:cNvPr id="11" name="Picture 10">
            <a:extLst>
              <a:ext uri="{FF2B5EF4-FFF2-40B4-BE49-F238E27FC236}">
                <a16:creationId xmlns:a16="http://schemas.microsoft.com/office/drawing/2014/main" id="{E2EE8DF8-17DB-410F-AD34-7CA177C4FF31}"/>
              </a:ext>
            </a:extLst>
          </p:cNvPr>
          <p:cNvPicPr>
            <a:picLocks noChangeAspect="1"/>
          </p:cNvPicPr>
          <p:nvPr/>
        </p:nvPicPr>
        <p:blipFill>
          <a:blip r:embed="rId5"/>
          <a:stretch>
            <a:fillRect/>
          </a:stretch>
        </p:blipFill>
        <p:spPr>
          <a:xfrm>
            <a:off x="8672091" y="2141537"/>
            <a:ext cx="2252663" cy="2252663"/>
          </a:xfrm>
          <a:prstGeom prst="rect">
            <a:avLst/>
          </a:prstGeom>
        </p:spPr>
      </p:pic>
    </p:spTree>
    <p:extLst>
      <p:ext uri="{BB962C8B-B14F-4D97-AF65-F5344CB8AC3E}">
        <p14:creationId xmlns:p14="http://schemas.microsoft.com/office/powerpoint/2010/main" val="3905628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FBB7A-008B-4AC1-B15A-F93A2172C3EF}"/>
              </a:ext>
            </a:extLst>
          </p:cNvPr>
          <p:cNvSpPr>
            <a:spLocks noGrp="1"/>
          </p:cNvSpPr>
          <p:nvPr>
            <p:ph type="title"/>
          </p:nvPr>
        </p:nvSpPr>
        <p:spPr/>
        <p:txBody>
          <a:bodyPr/>
          <a:lstStyle/>
          <a:p>
            <a:pPr algn="ctr"/>
            <a:r>
              <a:rPr lang="en-IN" sz="3600" b="1" i="1" dirty="0">
                <a:latin typeface="Segoe UI" panose="020B0502040204020203" pitchFamily="34" charset="0"/>
                <a:cs typeface="Segoe UI" panose="020B0502040204020203" pitchFamily="34" charset="0"/>
              </a:rPr>
              <a:t>KPIs </a:t>
            </a:r>
            <a:r>
              <a:rPr lang="en-IN" sz="2000" b="1" i="1" dirty="0">
                <a:latin typeface="Segoe UI" panose="020B0502040204020203" pitchFamily="34" charset="0"/>
                <a:cs typeface="Segoe UI" panose="020B0502040204020203" pitchFamily="34" charset="0"/>
              </a:rPr>
              <a:t>(</a:t>
            </a:r>
            <a:r>
              <a:rPr lang="en-IN" sz="1800" i="1" dirty="0">
                <a:latin typeface="Segoe UI" panose="020B0502040204020203" pitchFamily="34" charset="0"/>
                <a:cs typeface="Segoe UI" panose="020B0502040204020203" pitchFamily="34" charset="0"/>
              </a:rPr>
              <a:t>Key Performance Indicators</a:t>
            </a:r>
            <a:r>
              <a:rPr lang="en-IN" sz="1800" b="1" i="1" dirty="0">
                <a:latin typeface="Segoe UI" panose="020B0502040204020203" pitchFamily="34" charset="0"/>
                <a:cs typeface="Segoe UI" panose="020B0502040204020203" pitchFamily="34" charset="0"/>
              </a:rPr>
              <a:t>)</a:t>
            </a:r>
            <a:endParaRPr lang="en-IN" b="1" dirty="0"/>
          </a:p>
        </p:txBody>
      </p:sp>
      <p:sp>
        <p:nvSpPr>
          <p:cNvPr id="3" name="Content Placeholder 2">
            <a:extLst>
              <a:ext uri="{FF2B5EF4-FFF2-40B4-BE49-F238E27FC236}">
                <a16:creationId xmlns:a16="http://schemas.microsoft.com/office/drawing/2014/main" id="{E1774234-6BD8-48D7-8288-D03193152AC2}"/>
              </a:ext>
            </a:extLst>
          </p:cNvPr>
          <p:cNvSpPr>
            <a:spLocks noGrp="1"/>
          </p:cNvSpPr>
          <p:nvPr>
            <p:ph idx="1"/>
          </p:nvPr>
        </p:nvSpPr>
        <p:spPr>
          <a:xfrm>
            <a:off x="838199" y="1825625"/>
            <a:ext cx="10982325" cy="4351338"/>
          </a:xfrm>
        </p:spPr>
        <p:txBody>
          <a:bodyPr/>
          <a:lstStyle/>
          <a:p>
            <a:pPr marL="342900" indent="-342900">
              <a:lnSpc>
                <a:spcPct val="115000"/>
              </a:lnSpc>
              <a:buFont typeface="Symbol" panose="05050102010706020507" pitchFamily="18" charset="2"/>
              <a:buChar char=""/>
            </a:pPr>
            <a:r>
              <a:rPr lang="en-IN" sz="1800" i="1" dirty="0">
                <a:latin typeface="Segoe UI" panose="020B0502040204020203" pitchFamily="34" charset="0"/>
              </a:rPr>
              <a:t>The Dashboard provides a view of Astrosage’s call centre performance</a:t>
            </a:r>
          </a:p>
          <a:p>
            <a:pPr marL="342900" indent="-342900">
              <a:lnSpc>
                <a:spcPct val="115000"/>
              </a:lnSpc>
              <a:buFont typeface="Symbol" panose="05050102010706020507" pitchFamily="18" charset="2"/>
              <a:buChar char=""/>
            </a:pPr>
            <a:r>
              <a:rPr lang="en-IN" sz="1800" i="1" dirty="0">
                <a:latin typeface="Segoe UI" panose="020B0502040204020203" pitchFamily="34" charset="0"/>
              </a:rPr>
              <a:t>KPIs</a:t>
            </a:r>
          </a:p>
          <a:p>
            <a:pPr marL="342900" indent="-342900">
              <a:lnSpc>
                <a:spcPct val="115000"/>
              </a:lnSpc>
              <a:buFont typeface="Symbol" panose="05050102010706020507" pitchFamily="18" charset="2"/>
              <a:buChar char=""/>
            </a:pPr>
            <a:r>
              <a:rPr lang="en-IN" sz="1800" i="1" dirty="0">
                <a:latin typeface="Segoe UI" panose="020B0502040204020203" pitchFamily="34" charset="0"/>
              </a:rPr>
              <a:t>Total Revenue                                  </a:t>
            </a:r>
          </a:p>
          <a:p>
            <a:pPr marL="342900" indent="-342900">
              <a:lnSpc>
                <a:spcPct val="115000"/>
              </a:lnSpc>
              <a:buFont typeface="Symbol" panose="05050102010706020507" pitchFamily="18" charset="2"/>
              <a:buChar char=""/>
            </a:pPr>
            <a:r>
              <a:rPr lang="en-IN" sz="1800" i="1" dirty="0">
                <a:latin typeface="Segoe UI" panose="020B0502040204020203" pitchFamily="34" charset="0"/>
              </a:rPr>
              <a:t>Total Calls</a:t>
            </a:r>
          </a:p>
          <a:p>
            <a:pPr marL="342900" indent="-342900">
              <a:lnSpc>
                <a:spcPct val="115000"/>
              </a:lnSpc>
              <a:buFont typeface="Symbol" panose="05050102010706020507" pitchFamily="18" charset="2"/>
              <a:buChar char=""/>
            </a:pPr>
            <a:r>
              <a:rPr lang="en-IN" sz="1800" i="1" dirty="0">
                <a:latin typeface="Segoe UI" panose="020B0502040204020203" pitchFamily="34" charset="0"/>
              </a:rPr>
              <a:t>Total Chats</a:t>
            </a:r>
          </a:p>
          <a:p>
            <a:pPr marL="342900" indent="-342900">
              <a:lnSpc>
                <a:spcPct val="115000"/>
              </a:lnSpc>
              <a:buFont typeface="Symbol" panose="05050102010706020507" pitchFamily="18" charset="2"/>
              <a:buChar char=""/>
            </a:pPr>
            <a:r>
              <a:rPr lang="en-IN" sz="1800" i="1" dirty="0">
                <a:latin typeface="Segoe UI" panose="020B0502040204020203" pitchFamily="34" charset="0"/>
              </a:rPr>
              <a:t>Average Rating </a:t>
            </a:r>
          </a:p>
          <a:p>
            <a:pPr marL="342900" indent="-342900">
              <a:lnSpc>
                <a:spcPct val="115000"/>
              </a:lnSpc>
              <a:buFont typeface="Symbol" panose="05050102010706020507" pitchFamily="18" charset="2"/>
              <a:buChar char=""/>
            </a:pPr>
            <a:r>
              <a:rPr lang="en-IN" sz="1800" i="1" dirty="0">
                <a:latin typeface="Segoe UI" panose="020B0502040204020203" pitchFamily="34" charset="0"/>
              </a:rPr>
              <a:t>No of Days</a:t>
            </a:r>
          </a:p>
          <a:p>
            <a:pPr marL="342900" indent="-342900">
              <a:lnSpc>
                <a:spcPct val="115000"/>
              </a:lnSpc>
              <a:buFont typeface="Symbol" panose="05050102010706020507" pitchFamily="18" charset="2"/>
              <a:buChar char=""/>
            </a:pPr>
            <a:r>
              <a:rPr lang="en-IN" sz="1800" i="1" dirty="0">
                <a:latin typeface="Segoe UI" panose="020B0502040204020203" pitchFamily="34" charset="0"/>
              </a:rPr>
              <a:t>Total no of Gurus</a:t>
            </a:r>
          </a:p>
          <a:p>
            <a:endParaRPr lang="en-IN" dirty="0"/>
          </a:p>
          <a:p>
            <a:endParaRPr lang="en-IN" dirty="0"/>
          </a:p>
        </p:txBody>
      </p:sp>
      <p:pic>
        <p:nvPicPr>
          <p:cNvPr id="4" name="Picture 3">
            <a:extLst>
              <a:ext uri="{FF2B5EF4-FFF2-40B4-BE49-F238E27FC236}">
                <a16:creationId xmlns:a16="http://schemas.microsoft.com/office/drawing/2014/main" id="{FBCC6BC8-590C-4BEA-90E0-DADE8FCFFC75}"/>
              </a:ext>
            </a:extLst>
          </p:cNvPr>
          <p:cNvPicPr>
            <a:picLocks noChangeAspect="1"/>
          </p:cNvPicPr>
          <p:nvPr/>
        </p:nvPicPr>
        <p:blipFill>
          <a:blip r:embed="rId2"/>
          <a:stretch>
            <a:fillRect/>
          </a:stretch>
        </p:blipFill>
        <p:spPr>
          <a:xfrm>
            <a:off x="6361100" y="2550551"/>
            <a:ext cx="2326747" cy="877582"/>
          </a:xfrm>
          <a:prstGeom prst="rect">
            <a:avLst/>
          </a:prstGeom>
        </p:spPr>
      </p:pic>
      <p:pic>
        <p:nvPicPr>
          <p:cNvPr id="5" name="Picture 4">
            <a:extLst>
              <a:ext uri="{FF2B5EF4-FFF2-40B4-BE49-F238E27FC236}">
                <a16:creationId xmlns:a16="http://schemas.microsoft.com/office/drawing/2014/main" id="{90800828-D8F1-43D2-9086-B82ECCB0FA85}"/>
              </a:ext>
            </a:extLst>
          </p:cNvPr>
          <p:cNvPicPr>
            <a:picLocks noChangeAspect="1"/>
          </p:cNvPicPr>
          <p:nvPr/>
        </p:nvPicPr>
        <p:blipFill>
          <a:blip r:embed="rId3"/>
          <a:stretch>
            <a:fillRect/>
          </a:stretch>
        </p:blipFill>
        <p:spPr>
          <a:xfrm flipH="1">
            <a:off x="8008623" y="2754134"/>
            <a:ext cx="462899" cy="464712"/>
          </a:xfrm>
          <a:prstGeom prst="rect">
            <a:avLst/>
          </a:prstGeom>
        </p:spPr>
      </p:pic>
      <p:pic>
        <p:nvPicPr>
          <p:cNvPr id="7" name="Picture 6">
            <a:extLst>
              <a:ext uri="{FF2B5EF4-FFF2-40B4-BE49-F238E27FC236}">
                <a16:creationId xmlns:a16="http://schemas.microsoft.com/office/drawing/2014/main" id="{2B4A2302-6476-4322-900B-6FA5A354CE7D}"/>
              </a:ext>
            </a:extLst>
          </p:cNvPr>
          <p:cNvPicPr>
            <a:picLocks noChangeAspect="1"/>
          </p:cNvPicPr>
          <p:nvPr/>
        </p:nvPicPr>
        <p:blipFill>
          <a:blip r:embed="rId4"/>
          <a:stretch>
            <a:fillRect/>
          </a:stretch>
        </p:blipFill>
        <p:spPr>
          <a:xfrm>
            <a:off x="8965908" y="2547699"/>
            <a:ext cx="2418141" cy="877582"/>
          </a:xfrm>
          <a:prstGeom prst="rect">
            <a:avLst/>
          </a:prstGeom>
        </p:spPr>
      </p:pic>
      <p:pic>
        <p:nvPicPr>
          <p:cNvPr id="8" name="Picture 7">
            <a:extLst>
              <a:ext uri="{FF2B5EF4-FFF2-40B4-BE49-F238E27FC236}">
                <a16:creationId xmlns:a16="http://schemas.microsoft.com/office/drawing/2014/main" id="{27960D5A-B80C-4144-992F-BE763B92BCA5}"/>
              </a:ext>
            </a:extLst>
          </p:cNvPr>
          <p:cNvPicPr>
            <a:picLocks noChangeAspect="1"/>
          </p:cNvPicPr>
          <p:nvPr/>
        </p:nvPicPr>
        <p:blipFill>
          <a:blip r:embed="rId5"/>
          <a:stretch>
            <a:fillRect/>
          </a:stretch>
        </p:blipFill>
        <p:spPr>
          <a:xfrm>
            <a:off x="10690007" y="2614953"/>
            <a:ext cx="385884" cy="385884"/>
          </a:xfrm>
          <a:prstGeom prst="rect">
            <a:avLst/>
          </a:prstGeom>
        </p:spPr>
      </p:pic>
      <p:pic>
        <p:nvPicPr>
          <p:cNvPr id="9" name="Picture 8">
            <a:extLst>
              <a:ext uri="{FF2B5EF4-FFF2-40B4-BE49-F238E27FC236}">
                <a16:creationId xmlns:a16="http://schemas.microsoft.com/office/drawing/2014/main" id="{CC267ADF-5B92-4934-A8DF-43C8BF0A5AB1}"/>
              </a:ext>
            </a:extLst>
          </p:cNvPr>
          <p:cNvPicPr>
            <a:picLocks noChangeAspect="1"/>
          </p:cNvPicPr>
          <p:nvPr/>
        </p:nvPicPr>
        <p:blipFill>
          <a:blip r:embed="rId5"/>
          <a:stretch>
            <a:fillRect/>
          </a:stretch>
        </p:blipFill>
        <p:spPr>
          <a:xfrm>
            <a:off x="10574424" y="2943809"/>
            <a:ext cx="308525" cy="308525"/>
          </a:xfrm>
          <a:prstGeom prst="rect">
            <a:avLst/>
          </a:prstGeom>
        </p:spPr>
      </p:pic>
      <p:pic>
        <p:nvPicPr>
          <p:cNvPr id="10" name="Picture 9">
            <a:extLst>
              <a:ext uri="{FF2B5EF4-FFF2-40B4-BE49-F238E27FC236}">
                <a16:creationId xmlns:a16="http://schemas.microsoft.com/office/drawing/2014/main" id="{A5A76820-16AA-42D5-9E7F-A9CEBD290E84}"/>
              </a:ext>
            </a:extLst>
          </p:cNvPr>
          <p:cNvPicPr>
            <a:picLocks noChangeAspect="1"/>
          </p:cNvPicPr>
          <p:nvPr/>
        </p:nvPicPr>
        <p:blipFill>
          <a:blip r:embed="rId6"/>
          <a:stretch>
            <a:fillRect/>
          </a:stretch>
        </p:blipFill>
        <p:spPr>
          <a:xfrm>
            <a:off x="5944766" y="3595855"/>
            <a:ext cx="2444708" cy="883997"/>
          </a:xfrm>
          <a:prstGeom prst="rect">
            <a:avLst/>
          </a:prstGeom>
        </p:spPr>
      </p:pic>
      <p:pic>
        <p:nvPicPr>
          <p:cNvPr id="12" name="Picture 11">
            <a:extLst>
              <a:ext uri="{FF2B5EF4-FFF2-40B4-BE49-F238E27FC236}">
                <a16:creationId xmlns:a16="http://schemas.microsoft.com/office/drawing/2014/main" id="{62E499F5-BDEC-4C0D-824C-EC66D74D126E}"/>
              </a:ext>
            </a:extLst>
          </p:cNvPr>
          <p:cNvPicPr>
            <a:picLocks noChangeAspect="1"/>
          </p:cNvPicPr>
          <p:nvPr/>
        </p:nvPicPr>
        <p:blipFill>
          <a:blip r:embed="rId7"/>
          <a:stretch>
            <a:fillRect/>
          </a:stretch>
        </p:blipFill>
        <p:spPr>
          <a:xfrm>
            <a:off x="8649231" y="3682025"/>
            <a:ext cx="2859272" cy="835224"/>
          </a:xfrm>
          <a:prstGeom prst="rect">
            <a:avLst/>
          </a:prstGeom>
        </p:spPr>
      </p:pic>
      <p:pic>
        <p:nvPicPr>
          <p:cNvPr id="14" name="Picture 13">
            <a:extLst>
              <a:ext uri="{FF2B5EF4-FFF2-40B4-BE49-F238E27FC236}">
                <a16:creationId xmlns:a16="http://schemas.microsoft.com/office/drawing/2014/main" id="{8FB35965-08D8-49F2-A06B-515A05EF8254}"/>
              </a:ext>
            </a:extLst>
          </p:cNvPr>
          <p:cNvPicPr>
            <a:picLocks noChangeAspect="1"/>
          </p:cNvPicPr>
          <p:nvPr/>
        </p:nvPicPr>
        <p:blipFill>
          <a:blip r:embed="rId8"/>
          <a:stretch>
            <a:fillRect/>
          </a:stretch>
        </p:blipFill>
        <p:spPr>
          <a:xfrm>
            <a:off x="5944766" y="4836767"/>
            <a:ext cx="2822693" cy="853514"/>
          </a:xfrm>
          <a:prstGeom prst="rect">
            <a:avLst/>
          </a:prstGeom>
        </p:spPr>
      </p:pic>
      <p:pic>
        <p:nvPicPr>
          <p:cNvPr id="17" name="Picture 16">
            <a:extLst>
              <a:ext uri="{FF2B5EF4-FFF2-40B4-BE49-F238E27FC236}">
                <a16:creationId xmlns:a16="http://schemas.microsoft.com/office/drawing/2014/main" id="{A3FB6CC8-2973-40F9-98A7-20DFE4AF2E7C}"/>
              </a:ext>
            </a:extLst>
          </p:cNvPr>
          <p:cNvPicPr/>
          <p:nvPr/>
        </p:nvPicPr>
        <p:blipFill>
          <a:blip r:embed="rId9"/>
          <a:stretch>
            <a:fillRect/>
          </a:stretch>
        </p:blipFill>
        <p:spPr>
          <a:xfrm>
            <a:off x="7633520" y="3846127"/>
            <a:ext cx="606552" cy="514311"/>
          </a:xfrm>
          <a:prstGeom prst="rect">
            <a:avLst/>
          </a:prstGeom>
        </p:spPr>
      </p:pic>
      <p:pic>
        <p:nvPicPr>
          <p:cNvPr id="18" name="Picture 17">
            <a:extLst>
              <a:ext uri="{FF2B5EF4-FFF2-40B4-BE49-F238E27FC236}">
                <a16:creationId xmlns:a16="http://schemas.microsoft.com/office/drawing/2014/main" id="{F0B11E14-001C-41E5-9716-01B00410D0A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flipH="1">
            <a:off x="10574424" y="3751089"/>
            <a:ext cx="761782" cy="638251"/>
          </a:xfrm>
          <a:prstGeom prst="rect">
            <a:avLst/>
          </a:prstGeom>
        </p:spPr>
      </p:pic>
      <p:pic>
        <p:nvPicPr>
          <p:cNvPr id="19" name="Picture 18">
            <a:extLst>
              <a:ext uri="{FF2B5EF4-FFF2-40B4-BE49-F238E27FC236}">
                <a16:creationId xmlns:a16="http://schemas.microsoft.com/office/drawing/2014/main" id="{54A89298-CC87-45E7-891F-BC77AA9778D3}"/>
              </a:ext>
            </a:extLst>
          </p:cNvPr>
          <p:cNvPicPr>
            <a:picLocks noChangeAspect="1"/>
          </p:cNvPicPr>
          <p:nvPr/>
        </p:nvPicPr>
        <p:blipFill>
          <a:blip r:embed="rId11"/>
          <a:stretch>
            <a:fillRect/>
          </a:stretch>
        </p:blipFill>
        <p:spPr>
          <a:xfrm>
            <a:off x="7471318" y="4755221"/>
            <a:ext cx="1066800" cy="1066800"/>
          </a:xfrm>
          <a:prstGeom prst="rect">
            <a:avLst/>
          </a:prstGeom>
        </p:spPr>
      </p:pic>
      <p:pic>
        <p:nvPicPr>
          <p:cNvPr id="22" name="Picture 21">
            <a:extLst>
              <a:ext uri="{FF2B5EF4-FFF2-40B4-BE49-F238E27FC236}">
                <a16:creationId xmlns:a16="http://schemas.microsoft.com/office/drawing/2014/main" id="{1A0282D5-2356-4A9F-A5F8-A45156B44AB1}"/>
              </a:ext>
            </a:extLst>
          </p:cNvPr>
          <p:cNvPicPr>
            <a:picLocks noChangeAspect="1"/>
          </p:cNvPicPr>
          <p:nvPr/>
        </p:nvPicPr>
        <p:blipFill>
          <a:blip r:embed="rId12"/>
          <a:stretch>
            <a:fillRect/>
          </a:stretch>
        </p:blipFill>
        <p:spPr>
          <a:xfrm>
            <a:off x="9021862" y="4652186"/>
            <a:ext cx="2560542" cy="877900"/>
          </a:xfrm>
          <a:prstGeom prst="rect">
            <a:avLst/>
          </a:prstGeom>
        </p:spPr>
      </p:pic>
      <p:pic>
        <p:nvPicPr>
          <p:cNvPr id="24" name="Picture 23">
            <a:extLst>
              <a:ext uri="{FF2B5EF4-FFF2-40B4-BE49-F238E27FC236}">
                <a16:creationId xmlns:a16="http://schemas.microsoft.com/office/drawing/2014/main" id="{3D6A16EC-91C9-4D95-81DB-0731B4401FD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803747" y="4857237"/>
            <a:ext cx="544288" cy="550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446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C3A61-62BC-4111-BD2D-ADB2A69F4813}"/>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Total Revenue Generated</a:t>
            </a:r>
          </a:p>
        </p:txBody>
      </p:sp>
      <p:sp>
        <p:nvSpPr>
          <p:cNvPr id="3" name="Content Placeholder 2">
            <a:extLst>
              <a:ext uri="{FF2B5EF4-FFF2-40B4-BE49-F238E27FC236}">
                <a16:creationId xmlns:a16="http://schemas.microsoft.com/office/drawing/2014/main" id="{0052B8BC-0694-4E19-B147-616426DB608F}"/>
              </a:ext>
            </a:extLst>
          </p:cNvPr>
          <p:cNvSpPr>
            <a:spLocks noGrp="1"/>
          </p:cNvSpPr>
          <p:nvPr>
            <p:ph idx="1"/>
          </p:nvPr>
        </p:nvSpPr>
        <p:spPr>
          <a:xfrm>
            <a:off x="838200" y="1930400"/>
            <a:ext cx="6067425" cy="3937000"/>
          </a:xfrm>
        </p:spPr>
        <p:txBody>
          <a:bodyPr/>
          <a:lstStyle/>
          <a:p>
            <a:pPr marL="342900" lvl="0" indent="-342900">
              <a:lnSpc>
                <a:spcPct val="115000"/>
              </a:lnSpc>
              <a:spcAft>
                <a:spcPts val="1000"/>
              </a:spcAft>
              <a:buFont typeface="Symbol" panose="05050102010706020507" pitchFamily="18" charset="2"/>
              <a:buChar char=""/>
            </a:pPr>
            <a:r>
              <a:rPr lang="en-GB" sz="1800" i="1" dirty="0">
                <a:effectLst/>
                <a:latin typeface="Segoe UI" panose="020B0502040204020203" pitchFamily="34" charset="0"/>
                <a:ea typeface="Arial" panose="020B0604020202020204" pitchFamily="34" charset="0"/>
              </a:rPr>
              <a:t>The Chart represents the total revenue generated by each consultation type(Call and chat)</a:t>
            </a:r>
          </a:p>
          <a:p>
            <a:pPr marL="342900" lvl="0" indent="-342900">
              <a:lnSpc>
                <a:spcPct val="115000"/>
              </a:lnSpc>
              <a:spcAft>
                <a:spcPts val="1000"/>
              </a:spcAft>
              <a:buFont typeface="Symbol" panose="05050102010706020507" pitchFamily="18" charset="2"/>
              <a:buChar char=""/>
            </a:pPr>
            <a:r>
              <a:rPr lang="en-GB" sz="1800" i="1" dirty="0">
                <a:effectLst/>
                <a:latin typeface="Segoe UI" panose="020B0502040204020203" pitchFamily="34" charset="0"/>
                <a:ea typeface="Arial" panose="020B0604020202020204" pitchFamily="34" charset="0"/>
              </a:rPr>
              <a:t>Calls accounted for ₹1,68,493 (79% of total revenue), indicating that voice consultations are the call centre's main source of income.</a:t>
            </a:r>
            <a:endParaRPr lang="en-IN" sz="1800" dirty="0">
              <a:effectLst/>
              <a:latin typeface="Arial" panose="020B0604020202020204" pitchFamily="34" charset="0"/>
              <a:ea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en-GB" sz="1800" i="1" dirty="0">
                <a:effectLst/>
                <a:latin typeface="Segoe UI" panose="020B0502040204020203" pitchFamily="34" charset="0"/>
                <a:ea typeface="Arial" panose="020B0604020202020204" pitchFamily="34" charset="0"/>
              </a:rPr>
              <a:t>Chats produced ₹45,495, or 21% of the total, suggesting a noteworthy but secondary source of income.</a:t>
            </a:r>
          </a:p>
          <a:p>
            <a:pPr marL="342900" lvl="0" indent="-342900">
              <a:lnSpc>
                <a:spcPct val="115000"/>
              </a:lnSpc>
              <a:spcAft>
                <a:spcPts val="1000"/>
              </a:spcAft>
              <a:buFont typeface="Symbol" panose="05050102010706020507" pitchFamily="18" charset="2"/>
              <a:buChar char=""/>
            </a:pPr>
            <a:endParaRPr lang="en-IN" sz="1800" dirty="0">
              <a:effectLst/>
              <a:latin typeface="Arial" panose="020B0604020202020204" pitchFamily="34" charset="0"/>
              <a:ea typeface="Arial" panose="020B0604020202020204" pitchFamily="34" charset="0"/>
            </a:endParaRPr>
          </a:p>
        </p:txBody>
      </p:sp>
      <p:graphicFrame>
        <p:nvGraphicFramePr>
          <p:cNvPr id="8" name="Chart 7">
            <a:extLst>
              <a:ext uri="{FF2B5EF4-FFF2-40B4-BE49-F238E27FC236}">
                <a16:creationId xmlns:a16="http://schemas.microsoft.com/office/drawing/2014/main" id="{E47D8C1F-9338-4184-A760-14BB9485C924}"/>
              </a:ext>
            </a:extLst>
          </p:cNvPr>
          <p:cNvGraphicFramePr>
            <a:graphicFrameLocks/>
          </p:cNvGraphicFramePr>
          <p:nvPr>
            <p:extLst>
              <p:ext uri="{D42A27DB-BD31-4B8C-83A1-F6EECF244321}">
                <p14:modId xmlns:p14="http://schemas.microsoft.com/office/powerpoint/2010/main" val="408516650"/>
              </p:ext>
            </p:extLst>
          </p:nvPr>
        </p:nvGraphicFramePr>
        <p:xfrm>
          <a:off x="7056782" y="1825625"/>
          <a:ext cx="4887568" cy="2974975"/>
        </p:xfrm>
        <a:graphic>
          <a:graphicData uri="http://schemas.openxmlformats.org/drawingml/2006/chart">
            <c:chart xmlns:c="http://schemas.openxmlformats.org/drawingml/2006/chart" xmlns:r="http://schemas.openxmlformats.org/officeDocument/2006/relationships" r:id="rId2"/>
          </a:graphicData>
        </a:graphic>
      </p:graphicFrame>
      <p:pic>
        <p:nvPicPr>
          <p:cNvPr id="10" name="Picture 9">
            <a:extLst>
              <a:ext uri="{FF2B5EF4-FFF2-40B4-BE49-F238E27FC236}">
                <a16:creationId xmlns:a16="http://schemas.microsoft.com/office/drawing/2014/main" id="{20DC351A-C083-4341-AF54-4EC23319A14D}"/>
              </a:ext>
            </a:extLst>
          </p:cNvPr>
          <p:cNvPicPr>
            <a:picLocks noChangeAspect="1"/>
          </p:cNvPicPr>
          <p:nvPr/>
        </p:nvPicPr>
        <p:blipFill>
          <a:blip r:embed="rId3"/>
          <a:stretch>
            <a:fillRect/>
          </a:stretch>
        </p:blipFill>
        <p:spPr>
          <a:xfrm>
            <a:off x="2015038" y="600635"/>
            <a:ext cx="784086" cy="784086"/>
          </a:xfrm>
          <a:prstGeom prst="rect">
            <a:avLst/>
          </a:prstGeom>
        </p:spPr>
      </p:pic>
      <p:pic>
        <p:nvPicPr>
          <p:cNvPr id="12" name="Picture 11">
            <a:extLst>
              <a:ext uri="{FF2B5EF4-FFF2-40B4-BE49-F238E27FC236}">
                <a16:creationId xmlns:a16="http://schemas.microsoft.com/office/drawing/2014/main" id="{3BD81648-8BA0-41D3-95EF-8369DFF17DFD}"/>
              </a:ext>
            </a:extLst>
          </p:cNvPr>
          <p:cNvPicPr>
            <a:picLocks noChangeAspect="1"/>
          </p:cNvPicPr>
          <p:nvPr/>
        </p:nvPicPr>
        <p:blipFill>
          <a:blip r:embed="rId4"/>
          <a:stretch>
            <a:fillRect/>
          </a:stretch>
        </p:blipFill>
        <p:spPr>
          <a:xfrm>
            <a:off x="5029200" y="5581193"/>
            <a:ext cx="685136" cy="685136"/>
          </a:xfrm>
          <a:prstGeom prst="rect">
            <a:avLst/>
          </a:prstGeom>
        </p:spPr>
      </p:pic>
      <p:pic>
        <p:nvPicPr>
          <p:cNvPr id="14" name="Picture 13">
            <a:extLst>
              <a:ext uri="{FF2B5EF4-FFF2-40B4-BE49-F238E27FC236}">
                <a16:creationId xmlns:a16="http://schemas.microsoft.com/office/drawing/2014/main" id="{BA6390D2-3C58-4833-BFC5-35C64A60B1EE}"/>
              </a:ext>
            </a:extLst>
          </p:cNvPr>
          <p:cNvPicPr>
            <a:picLocks noChangeAspect="1"/>
          </p:cNvPicPr>
          <p:nvPr/>
        </p:nvPicPr>
        <p:blipFill>
          <a:blip r:embed="rId5"/>
          <a:stretch>
            <a:fillRect/>
          </a:stretch>
        </p:blipFill>
        <p:spPr>
          <a:xfrm>
            <a:off x="1857830" y="5652911"/>
            <a:ext cx="685136" cy="685136"/>
          </a:xfrm>
          <a:prstGeom prst="rect">
            <a:avLst/>
          </a:prstGeom>
        </p:spPr>
      </p:pic>
      <p:pic>
        <p:nvPicPr>
          <p:cNvPr id="16" name="Picture 15">
            <a:extLst>
              <a:ext uri="{FF2B5EF4-FFF2-40B4-BE49-F238E27FC236}">
                <a16:creationId xmlns:a16="http://schemas.microsoft.com/office/drawing/2014/main" id="{0CFE2105-2752-4AFB-993C-B2E5D5346F1A}"/>
              </a:ext>
            </a:extLst>
          </p:cNvPr>
          <p:cNvPicPr>
            <a:picLocks noChangeAspect="1"/>
          </p:cNvPicPr>
          <p:nvPr/>
        </p:nvPicPr>
        <p:blipFill>
          <a:blip r:embed="rId6"/>
          <a:stretch>
            <a:fillRect/>
          </a:stretch>
        </p:blipFill>
        <p:spPr>
          <a:xfrm>
            <a:off x="8593336" y="5652912"/>
            <a:ext cx="685135" cy="685135"/>
          </a:xfrm>
          <a:prstGeom prst="rect">
            <a:avLst/>
          </a:prstGeom>
        </p:spPr>
      </p:pic>
    </p:spTree>
    <p:extLst>
      <p:ext uri="{BB962C8B-B14F-4D97-AF65-F5344CB8AC3E}">
        <p14:creationId xmlns:p14="http://schemas.microsoft.com/office/powerpoint/2010/main" val="2630822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E3A3-2309-48E3-829B-52D140CA6DDD}"/>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Hourly Call Volume</a:t>
            </a:r>
          </a:p>
        </p:txBody>
      </p:sp>
      <p:sp>
        <p:nvSpPr>
          <p:cNvPr id="11" name="Content Placeholder 10">
            <a:extLst>
              <a:ext uri="{FF2B5EF4-FFF2-40B4-BE49-F238E27FC236}">
                <a16:creationId xmlns:a16="http://schemas.microsoft.com/office/drawing/2014/main" id="{8046FAAC-373B-4662-8215-0ABED5C187AF}"/>
              </a:ext>
            </a:extLst>
          </p:cNvPr>
          <p:cNvSpPr>
            <a:spLocks noGrp="1"/>
          </p:cNvSpPr>
          <p:nvPr>
            <p:ph idx="1"/>
          </p:nvPr>
        </p:nvSpPr>
        <p:spPr>
          <a:xfrm>
            <a:off x="838200" y="1854200"/>
            <a:ext cx="6153150" cy="3908425"/>
          </a:xfrm>
        </p:spPr>
        <p:txBody>
          <a:bodyPr>
            <a:normAutofit/>
          </a:bodyPr>
          <a:lstStyle/>
          <a:p>
            <a:pPr marL="342900" lvl="0" indent="-342900">
              <a:lnSpc>
                <a:spcPct val="115000"/>
              </a:lnSpc>
              <a:buFont typeface="Symbol" panose="05050102010706020507" pitchFamily="18" charset="2"/>
              <a:buChar char=""/>
            </a:pPr>
            <a:r>
              <a:rPr lang="en-GB" sz="1800" i="1" dirty="0">
                <a:effectLst/>
                <a:latin typeface="Segoe UI" panose="020B0502040204020203" pitchFamily="34" charset="0"/>
                <a:ea typeface="Arial" panose="020B0604020202020204" pitchFamily="34" charset="0"/>
              </a:rPr>
              <a:t>8–10 AM = peak calls + increasing chats = agents overworked.</a:t>
            </a: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r>
              <a:rPr lang="en-GB" sz="1800" i="1" dirty="0">
                <a:effectLst/>
                <a:latin typeface="Segoe UI" panose="020B0502040204020203" pitchFamily="34" charset="0"/>
                <a:ea typeface="Arial" panose="020B0604020202020204" pitchFamily="34" charset="0"/>
              </a:rPr>
              <a:t>Chat agents burn out more quickly since chats run from 6 AM to 8 PM (14 hours), while calls run from 6 AM to 6 PM (12 hours).</a:t>
            </a:r>
          </a:p>
          <a:p>
            <a:pPr marL="342900" indent="-342900">
              <a:lnSpc>
                <a:spcPct val="115000"/>
              </a:lnSpc>
              <a:buFont typeface="Symbol" panose="05050102010706020507" pitchFamily="18" charset="2"/>
              <a:buChar char=""/>
            </a:pPr>
            <a:r>
              <a:rPr lang="en-US" sz="1800" i="1" dirty="0">
                <a:latin typeface="Segoe UI" panose="020B0502040204020203" pitchFamily="34" charset="0"/>
              </a:rPr>
              <a:t>Indicates need for more agents during mid-day hour &amp;lighter staffing at night.</a:t>
            </a:r>
            <a:endParaRPr lang="en-IN" sz="1800" i="1" dirty="0">
              <a:latin typeface="Segoe UI" panose="020B0502040204020203" pitchFamily="34" charset="0"/>
            </a:endParaRPr>
          </a:p>
        </p:txBody>
      </p:sp>
      <p:graphicFrame>
        <p:nvGraphicFramePr>
          <p:cNvPr id="12" name="Content Placeholder 8">
            <a:extLst>
              <a:ext uri="{FF2B5EF4-FFF2-40B4-BE49-F238E27FC236}">
                <a16:creationId xmlns:a16="http://schemas.microsoft.com/office/drawing/2014/main" id="{80D83063-1592-4D43-9A29-EAFEF17D14E1}"/>
              </a:ext>
            </a:extLst>
          </p:cNvPr>
          <p:cNvGraphicFramePr>
            <a:graphicFrameLocks/>
          </p:cNvGraphicFramePr>
          <p:nvPr>
            <p:extLst>
              <p:ext uri="{D42A27DB-BD31-4B8C-83A1-F6EECF244321}">
                <p14:modId xmlns:p14="http://schemas.microsoft.com/office/powerpoint/2010/main" val="3904644042"/>
              </p:ext>
            </p:extLst>
          </p:nvPr>
        </p:nvGraphicFramePr>
        <p:xfrm>
          <a:off x="6991350" y="2019301"/>
          <a:ext cx="4600575" cy="2990850"/>
        </p:xfrm>
        <a:graphic>
          <a:graphicData uri="http://schemas.openxmlformats.org/drawingml/2006/chart">
            <c:chart xmlns:c="http://schemas.openxmlformats.org/drawingml/2006/chart" xmlns:r="http://schemas.openxmlformats.org/officeDocument/2006/relationships" r:id="rId2"/>
          </a:graphicData>
        </a:graphic>
      </p:graphicFrame>
      <p:pic>
        <p:nvPicPr>
          <p:cNvPr id="14" name="Picture 13">
            <a:extLst>
              <a:ext uri="{FF2B5EF4-FFF2-40B4-BE49-F238E27FC236}">
                <a16:creationId xmlns:a16="http://schemas.microsoft.com/office/drawing/2014/main" id="{E76B0F73-FC54-43A9-B4B8-734699D522EA}"/>
              </a:ext>
            </a:extLst>
          </p:cNvPr>
          <p:cNvPicPr>
            <a:picLocks noChangeAspect="1"/>
          </p:cNvPicPr>
          <p:nvPr/>
        </p:nvPicPr>
        <p:blipFill>
          <a:blip r:embed="rId3"/>
          <a:stretch>
            <a:fillRect/>
          </a:stretch>
        </p:blipFill>
        <p:spPr>
          <a:xfrm>
            <a:off x="2268071" y="490118"/>
            <a:ext cx="770964" cy="770964"/>
          </a:xfrm>
          <a:prstGeom prst="rect">
            <a:avLst/>
          </a:prstGeom>
        </p:spPr>
      </p:pic>
      <p:pic>
        <p:nvPicPr>
          <p:cNvPr id="16" name="Picture 15">
            <a:extLst>
              <a:ext uri="{FF2B5EF4-FFF2-40B4-BE49-F238E27FC236}">
                <a16:creationId xmlns:a16="http://schemas.microsoft.com/office/drawing/2014/main" id="{6EE2AC52-3D14-4CC7-8064-61AEADACB9D6}"/>
              </a:ext>
            </a:extLst>
          </p:cNvPr>
          <p:cNvPicPr>
            <a:picLocks noChangeAspect="1"/>
          </p:cNvPicPr>
          <p:nvPr/>
        </p:nvPicPr>
        <p:blipFill>
          <a:blip r:embed="rId4"/>
          <a:stretch>
            <a:fillRect/>
          </a:stretch>
        </p:blipFill>
        <p:spPr>
          <a:xfrm>
            <a:off x="1944174" y="5602240"/>
            <a:ext cx="647794" cy="647794"/>
          </a:xfrm>
          <a:prstGeom prst="rect">
            <a:avLst/>
          </a:prstGeom>
        </p:spPr>
      </p:pic>
      <p:pic>
        <p:nvPicPr>
          <p:cNvPr id="22" name="Picture 21">
            <a:extLst>
              <a:ext uri="{FF2B5EF4-FFF2-40B4-BE49-F238E27FC236}">
                <a16:creationId xmlns:a16="http://schemas.microsoft.com/office/drawing/2014/main" id="{1DA9FABD-C5BF-4BD3-8CBE-BD35D2067898}"/>
              </a:ext>
            </a:extLst>
          </p:cNvPr>
          <p:cNvPicPr>
            <a:picLocks noChangeAspect="1"/>
          </p:cNvPicPr>
          <p:nvPr/>
        </p:nvPicPr>
        <p:blipFill>
          <a:blip r:embed="rId5"/>
          <a:stretch>
            <a:fillRect/>
          </a:stretch>
        </p:blipFill>
        <p:spPr>
          <a:xfrm flipV="1">
            <a:off x="9291637" y="5543502"/>
            <a:ext cx="647794" cy="647794"/>
          </a:xfrm>
          <a:prstGeom prst="rect">
            <a:avLst/>
          </a:prstGeom>
        </p:spPr>
      </p:pic>
      <p:pic>
        <p:nvPicPr>
          <p:cNvPr id="24" name="Picture 23">
            <a:extLst>
              <a:ext uri="{FF2B5EF4-FFF2-40B4-BE49-F238E27FC236}">
                <a16:creationId xmlns:a16="http://schemas.microsoft.com/office/drawing/2014/main" id="{1EBBF317-5710-44CB-A21B-C73976007710}"/>
              </a:ext>
            </a:extLst>
          </p:cNvPr>
          <p:cNvPicPr>
            <a:picLocks noChangeAspect="1"/>
          </p:cNvPicPr>
          <p:nvPr/>
        </p:nvPicPr>
        <p:blipFill>
          <a:blip r:embed="rId6"/>
          <a:stretch>
            <a:fillRect/>
          </a:stretch>
        </p:blipFill>
        <p:spPr>
          <a:xfrm>
            <a:off x="5502532" y="5428128"/>
            <a:ext cx="878541" cy="878541"/>
          </a:xfrm>
          <a:prstGeom prst="rect">
            <a:avLst/>
          </a:prstGeom>
        </p:spPr>
      </p:pic>
    </p:spTree>
    <p:extLst>
      <p:ext uri="{BB962C8B-B14F-4D97-AF65-F5344CB8AC3E}">
        <p14:creationId xmlns:p14="http://schemas.microsoft.com/office/powerpoint/2010/main" val="379656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C7193-94C4-4528-8A45-321A572CD2EA}"/>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Call Status Distribution</a:t>
            </a:r>
          </a:p>
        </p:txBody>
      </p:sp>
      <p:sp>
        <p:nvSpPr>
          <p:cNvPr id="3" name="Content Placeholder 2">
            <a:extLst>
              <a:ext uri="{FF2B5EF4-FFF2-40B4-BE49-F238E27FC236}">
                <a16:creationId xmlns:a16="http://schemas.microsoft.com/office/drawing/2014/main" id="{AE65049A-8BFE-461D-BD12-C1CBC7EC9F10}"/>
              </a:ext>
            </a:extLst>
          </p:cNvPr>
          <p:cNvSpPr>
            <a:spLocks noGrp="1"/>
          </p:cNvSpPr>
          <p:nvPr>
            <p:ph idx="1"/>
          </p:nvPr>
        </p:nvSpPr>
        <p:spPr>
          <a:xfrm>
            <a:off x="666749" y="1900238"/>
            <a:ext cx="6321443" cy="4351338"/>
          </a:xfrm>
        </p:spPr>
        <p:txBody>
          <a:bodyPr>
            <a:normAutofit/>
          </a:bodyPr>
          <a:lstStyle/>
          <a:p>
            <a:r>
              <a:rPr lang="en-US" sz="1800" i="1" dirty="0">
                <a:latin typeface="Segoe UI" panose="020B0502040204020203" pitchFamily="34" charset="0"/>
              </a:rPr>
              <a:t>Almost six out of ten calls conclude without a </a:t>
            </a:r>
            <a:r>
              <a:rPr lang="en-US" sz="1800" i="1" dirty="0" err="1">
                <a:latin typeface="Segoe UI" panose="020B0502040204020203" pitchFamily="34" charset="0"/>
              </a:rPr>
              <a:t>resolution,with</a:t>
            </a:r>
            <a:r>
              <a:rPr lang="en-US" sz="1800" i="1" dirty="0">
                <a:latin typeface="Segoe UI" panose="020B0502040204020203" pitchFamily="34" charset="0"/>
              </a:rPr>
              <a:t> only 41% of calls being successfully finished.</a:t>
            </a:r>
          </a:p>
          <a:p>
            <a:r>
              <a:rPr lang="en-US" sz="1800" i="1" dirty="0">
                <a:latin typeface="Segoe UI" panose="020B0502040204020203" pitchFamily="34" charset="0"/>
              </a:rPr>
              <a:t>This suggests a substantial service delivery or accessibility gap.</a:t>
            </a:r>
            <a:r>
              <a:rPr lang="en-IN" sz="1800" i="1" dirty="0">
                <a:latin typeface="Segoe UI" panose="020B0502040204020203" pitchFamily="34" charset="0"/>
              </a:rPr>
              <a:t>   </a:t>
            </a:r>
          </a:p>
          <a:p>
            <a:endParaRPr lang="en-IN" sz="1800" i="1" dirty="0">
              <a:latin typeface="Segoe UI" panose="020B0502040204020203" pitchFamily="34" charset="0"/>
            </a:endParaRPr>
          </a:p>
          <a:p>
            <a:r>
              <a:rPr lang="en-US" sz="1800" i="1" dirty="0">
                <a:latin typeface="Segoe UI" panose="020B0502040204020203" pitchFamily="34" charset="0"/>
              </a:rPr>
              <a:t>The fact that 35% of calls (15% busy + 20% no answer) go unanswered suggests that there may be a staffing shortfall, poor call timing, or inefficient call routing.</a:t>
            </a:r>
            <a:endParaRPr lang="en-IN" sz="1800" i="1" dirty="0">
              <a:latin typeface="Segoe UI" panose="020B0502040204020203" pitchFamily="34" charset="0"/>
            </a:endParaRPr>
          </a:p>
        </p:txBody>
      </p:sp>
      <p:graphicFrame>
        <p:nvGraphicFramePr>
          <p:cNvPr id="10" name="Chart 9">
            <a:extLst>
              <a:ext uri="{FF2B5EF4-FFF2-40B4-BE49-F238E27FC236}">
                <a16:creationId xmlns:a16="http://schemas.microsoft.com/office/drawing/2014/main" id="{4AA12592-2276-4F2A-A470-5BED9036F0D5}"/>
              </a:ext>
            </a:extLst>
          </p:cNvPr>
          <p:cNvGraphicFramePr>
            <a:graphicFrameLocks/>
          </p:cNvGraphicFramePr>
          <p:nvPr>
            <p:extLst>
              <p:ext uri="{D42A27DB-BD31-4B8C-83A1-F6EECF244321}">
                <p14:modId xmlns:p14="http://schemas.microsoft.com/office/powerpoint/2010/main" val="123830420"/>
              </p:ext>
            </p:extLst>
          </p:nvPr>
        </p:nvGraphicFramePr>
        <p:xfrm>
          <a:off x="7435868" y="2088697"/>
          <a:ext cx="4178264" cy="2547256"/>
        </p:xfrm>
        <a:graphic>
          <a:graphicData uri="http://schemas.openxmlformats.org/drawingml/2006/chart">
            <c:chart xmlns:c="http://schemas.openxmlformats.org/drawingml/2006/chart" xmlns:r="http://schemas.openxmlformats.org/officeDocument/2006/relationships" r:id="rId2"/>
          </a:graphicData>
        </a:graphic>
      </p:graphicFrame>
      <p:pic>
        <p:nvPicPr>
          <p:cNvPr id="12" name="Picture 11">
            <a:extLst>
              <a:ext uri="{FF2B5EF4-FFF2-40B4-BE49-F238E27FC236}">
                <a16:creationId xmlns:a16="http://schemas.microsoft.com/office/drawing/2014/main" id="{E0E240CD-8CB7-4112-B947-32E6A5420F22}"/>
              </a:ext>
            </a:extLst>
          </p:cNvPr>
          <p:cNvPicPr>
            <a:picLocks noChangeAspect="1"/>
          </p:cNvPicPr>
          <p:nvPr/>
        </p:nvPicPr>
        <p:blipFill>
          <a:blip r:embed="rId3"/>
          <a:stretch>
            <a:fillRect/>
          </a:stretch>
        </p:blipFill>
        <p:spPr>
          <a:xfrm>
            <a:off x="1945343" y="606424"/>
            <a:ext cx="851646" cy="851646"/>
          </a:xfrm>
          <a:prstGeom prst="rect">
            <a:avLst/>
          </a:prstGeom>
        </p:spPr>
      </p:pic>
      <p:pic>
        <p:nvPicPr>
          <p:cNvPr id="14" name="Picture 13">
            <a:extLst>
              <a:ext uri="{FF2B5EF4-FFF2-40B4-BE49-F238E27FC236}">
                <a16:creationId xmlns:a16="http://schemas.microsoft.com/office/drawing/2014/main" id="{3F822315-1DE6-4AED-9369-D6F417C3CCCC}"/>
              </a:ext>
            </a:extLst>
          </p:cNvPr>
          <p:cNvPicPr>
            <a:picLocks noChangeAspect="1"/>
          </p:cNvPicPr>
          <p:nvPr/>
        </p:nvPicPr>
        <p:blipFill>
          <a:blip r:embed="rId4"/>
          <a:stretch>
            <a:fillRect/>
          </a:stretch>
        </p:blipFill>
        <p:spPr>
          <a:xfrm>
            <a:off x="5775512" y="5226423"/>
            <a:ext cx="640976" cy="640976"/>
          </a:xfrm>
          <a:prstGeom prst="rect">
            <a:avLst/>
          </a:prstGeom>
        </p:spPr>
      </p:pic>
      <p:pic>
        <p:nvPicPr>
          <p:cNvPr id="16" name="Picture 15">
            <a:extLst>
              <a:ext uri="{FF2B5EF4-FFF2-40B4-BE49-F238E27FC236}">
                <a16:creationId xmlns:a16="http://schemas.microsoft.com/office/drawing/2014/main" id="{A58FFF53-2F1D-4B62-B68E-06E852B90DBB}"/>
              </a:ext>
            </a:extLst>
          </p:cNvPr>
          <p:cNvPicPr>
            <a:picLocks noChangeAspect="1"/>
          </p:cNvPicPr>
          <p:nvPr/>
        </p:nvPicPr>
        <p:blipFill>
          <a:blip r:embed="rId5"/>
          <a:stretch>
            <a:fillRect/>
          </a:stretch>
        </p:blipFill>
        <p:spPr>
          <a:xfrm>
            <a:off x="1702734" y="5226423"/>
            <a:ext cx="640975" cy="640975"/>
          </a:xfrm>
          <a:prstGeom prst="rect">
            <a:avLst/>
          </a:prstGeom>
        </p:spPr>
      </p:pic>
      <p:pic>
        <p:nvPicPr>
          <p:cNvPr id="20" name="Picture 19">
            <a:extLst>
              <a:ext uri="{FF2B5EF4-FFF2-40B4-BE49-F238E27FC236}">
                <a16:creationId xmlns:a16="http://schemas.microsoft.com/office/drawing/2014/main" id="{39C2CDC3-067F-4136-9AD5-23CC74F0BED2}"/>
              </a:ext>
            </a:extLst>
          </p:cNvPr>
          <p:cNvPicPr>
            <a:picLocks noChangeAspect="1"/>
          </p:cNvPicPr>
          <p:nvPr/>
        </p:nvPicPr>
        <p:blipFill>
          <a:blip r:embed="rId6"/>
          <a:stretch>
            <a:fillRect/>
          </a:stretch>
        </p:blipFill>
        <p:spPr>
          <a:xfrm>
            <a:off x="9114864" y="5223618"/>
            <a:ext cx="733427" cy="733427"/>
          </a:xfrm>
          <a:prstGeom prst="rect">
            <a:avLst/>
          </a:prstGeom>
        </p:spPr>
      </p:pic>
    </p:spTree>
    <p:extLst>
      <p:ext uri="{BB962C8B-B14F-4D97-AF65-F5344CB8AC3E}">
        <p14:creationId xmlns:p14="http://schemas.microsoft.com/office/powerpoint/2010/main" val="3404271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D6085-C1AC-4A51-AA68-65C4ADFC75B9}"/>
              </a:ext>
            </a:extLst>
          </p:cNvPr>
          <p:cNvSpPr>
            <a:spLocks noGrp="1"/>
          </p:cNvSpPr>
          <p:nvPr>
            <p:ph type="title"/>
          </p:nvPr>
        </p:nvSpPr>
        <p:spPr/>
        <p:txBody>
          <a:bodyPr>
            <a:normAutofit/>
          </a:bodyPr>
          <a:lstStyle/>
          <a:p>
            <a:pPr algn="ctr"/>
            <a:r>
              <a:rPr lang="en-IN" sz="3600" b="1" i="1" dirty="0">
                <a:latin typeface="Segoe UI" panose="020B0502040204020203" pitchFamily="34" charset="0"/>
                <a:cs typeface="Segoe UI" panose="020B0502040204020203" pitchFamily="34" charset="0"/>
              </a:rPr>
              <a:t>Chat Status Distribution</a:t>
            </a:r>
          </a:p>
        </p:txBody>
      </p:sp>
      <p:sp>
        <p:nvSpPr>
          <p:cNvPr id="3" name="Content Placeholder 2">
            <a:extLst>
              <a:ext uri="{FF2B5EF4-FFF2-40B4-BE49-F238E27FC236}">
                <a16:creationId xmlns:a16="http://schemas.microsoft.com/office/drawing/2014/main" id="{2A8529DC-800D-411B-AFAA-7BB8E8C487BE}"/>
              </a:ext>
            </a:extLst>
          </p:cNvPr>
          <p:cNvSpPr>
            <a:spLocks noGrp="1"/>
          </p:cNvSpPr>
          <p:nvPr>
            <p:ph idx="1"/>
          </p:nvPr>
        </p:nvSpPr>
        <p:spPr>
          <a:xfrm>
            <a:off x="838200" y="1690688"/>
            <a:ext cx="6391275" cy="3800475"/>
          </a:xfrm>
        </p:spPr>
        <p:txBody>
          <a:bodyPr>
            <a:normAutofit lnSpcReduction="10000"/>
          </a:bodyPr>
          <a:lstStyle/>
          <a:p>
            <a:r>
              <a:rPr lang="en-US" sz="1800" i="1" dirty="0">
                <a:latin typeface="Segoe UI" panose="020B0502040204020203" pitchFamily="34" charset="0"/>
              </a:rPr>
              <a:t>71% of chat engagements fail or are left unfinished, with only 29% of chats being finished.</a:t>
            </a:r>
          </a:p>
          <a:p>
            <a:pPr marL="0" indent="0">
              <a:buNone/>
            </a:pPr>
            <a:endParaRPr lang="en-US" sz="1800" i="1" dirty="0">
              <a:latin typeface="Segoe UI" panose="020B0502040204020203" pitchFamily="34" charset="0"/>
            </a:endParaRPr>
          </a:p>
          <a:p>
            <a:r>
              <a:rPr lang="en-US" sz="1800" i="1" dirty="0">
                <a:latin typeface="Segoe UI" panose="020B0502040204020203" pitchFamily="34" charset="0"/>
              </a:rPr>
              <a:t>This indicates that there is a lot of friction in the chat assistance procedure</a:t>
            </a:r>
            <a:r>
              <a:rPr lang="en-US" sz="2000" i="1" dirty="0">
                <a:latin typeface="Segoe UI" panose="020B0502040204020203" pitchFamily="34" charset="0"/>
              </a:rPr>
              <a:t>.</a:t>
            </a:r>
          </a:p>
          <a:p>
            <a:pPr marL="0" indent="0">
              <a:buNone/>
            </a:pPr>
            <a:endParaRPr lang="en-US" sz="2000" i="1" dirty="0">
              <a:latin typeface="Segoe UI" panose="020B0502040204020203" pitchFamily="34" charset="0"/>
            </a:endParaRPr>
          </a:p>
          <a:p>
            <a:r>
              <a:rPr lang="en-US" sz="1800" i="1" dirty="0">
                <a:latin typeface="Segoe UI" panose="020B0502040204020203" pitchFamily="34" charset="0"/>
              </a:rPr>
              <a:t>With 34% incomplete and 37% failed, the problem is probably operational (high wait times, agent unavailability) or technological (chat dropouts, problems).</a:t>
            </a:r>
          </a:p>
          <a:p>
            <a:pPr marL="0" indent="0">
              <a:buNone/>
            </a:pPr>
            <a:endParaRPr lang="en-US" sz="1800" i="1" dirty="0">
              <a:latin typeface="Segoe UI" panose="020B0502040204020203" pitchFamily="34" charset="0"/>
            </a:endParaRPr>
          </a:p>
          <a:p>
            <a:r>
              <a:rPr lang="en-US" sz="1800" i="1" dirty="0">
                <a:latin typeface="Segoe UI" panose="020B0502040204020203" pitchFamily="34" charset="0"/>
              </a:rPr>
              <a:t>To preserve channel effectiveness, an immediate assessment of chat platform stability and agent training is necessary.</a:t>
            </a:r>
            <a:endParaRPr lang="en-IN" sz="1800" i="1" dirty="0">
              <a:latin typeface="Segoe UI" panose="020B0502040204020203" pitchFamily="34" charset="0"/>
            </a:endParaRPr>
          </a:p>
        </p:txBody>
      </p:sp>
      <p:graphicFrame>
        <p:nvGraphicFramePr>
          <p:cNvPr id="4" name="Chart 3">
            <a:extLst>
              <a:ext uri="{FF2B5EF4-FFF2-40B4-BE49-F238E27FC236}">
                <a16:creationId xmlns:a16="http://schemas.microsoft.com/office/drawing/2014/main" id="{29A4E656-BD2A-4565-A190-8F539C550962}"/>
              </a:ext>
            </a:extLst>
          </p:cNvPr>
          <p:cNvGraphicFramePr>
            <a:graphicFrameLocks/>
          </p:cNvGraphicFramePr>
          <p:nvPr>
            <p:extLst>
              <p:ext uri="{D42A27DB-BD31-4B8C-83A1-F6EECF244321}">
                <p14:modId xmlns:p14="http://schemas.microsoft.com/office/powerpoint/2010/main" val="2187194769"/>
              </p:ext>
            </p:extLst>
          </p:nvPr>
        </p:nvGraphicFramePr>
        <p:xfrm>
          <a:off x="7506856" y="2160735"/>
          <a:ext cx="4036287" cy="2536529"/>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a:extLst>
              <a:ext uri="{FF2B5EF4-FFF2-40B4-BE49-F238E27FC236}">
                <a16:creationId xmlns:a16="http://schemas.microsoft.com/office/drawing/2014/main" id="{C32302FB-4539-4866-88A7-92741F462DFA}"/>
              </a:ext>
            </a:extLst>
          </p:cNvPr>
          <p:cNvPicPr>
            <a:picLocks noChangeAspect="1"/>
          </p:cNvPicPr>
          <p:nvPr/>
        </p:nvPicPr>
        <p:blipFill>
          <a:blip r:embed="rId3"/>
          <a:stretch>
            <a:fillRect/>
          </a:stretch>
        </p:blipFill>
        <p:spPr>
          <a:xfrm flipH="1">
            <a:off x="2147047" y="555531"/>
            <a:ext cx="811306" cy="811306"/>
          </a:xfrm>
          <a:prstGeom prst="rect">
            <a:avLst/>
          </a:prstGeom>
        </p:spPr>
      </p:pic>
      <p:pic>
        <p:nvPicPr>
          <p:cNvPr id="7" name="Picture 6">
            <a:extLst>
              <a:ext uri="{FF2B5EF4-FFF2-40B4-BE49-F238E27FC236}">
                <a16:creationId xmlns:a16="http://schemas.microsoft.com/office/drawing/2014/main" id="{49F738BC-ABC2-414A-A88F-DC4C298086F9}"/>
              </a:ext>
            </a:extLst>
          </p:cNvPr>
          <p:cNvPicPr>
            <a:picLocks noChangeAspect="1"/>
          </p:cNvPicPr>
          <p:nvPr/>
        </p:nvPicPr>
        <p:blipFill>
          <a:blip r:embed="rId4"/>
          <a:stretch>
            <a:fillRect/>
          </a:stretch>
        </p:blipFill>
        <p:spPr>
          <a:xfrm>
            <a:off x="1813809" y="5658405"/>
            <a:ext cx="666476" cy="666476"/>
          </a:xfrm>
          <a:prstGeom prst="rect">
            <a:avLst/>
          </a:prstGeom>
        </p:spPr>
      </p:pic>
      <p:pic>
        <p:nvPicPr>
          <p:cNvPr id="9" name="Picture 8">
            <a:extLst>
              <a:ext uri="{FF2B5EF4-FFF2-40B4-BE49-F238E27FC236}">
                <a16:creationId xmlns:a16="http://schemas.microsoft.com/office/drawing/2014/main" id="{DCAAE583-CD68-4484-B505-2CD1A061CF4A}"/>
              </a:ext>
            </a:extLst>
          </p:cNvPr>
          <p:cNvPicPr>
            <a:picLocks noChangeAspect="1"/>
          </p:cNvPicPr>
          <p:nvPr/>
        </p:nvPicPr>
        <p:blipFill>
          <a:blip r:embed="rId5"/>
          <a:stretch>
            <a:fillRect/>
          </a:stretch>
        </p:blipFill>
        <p:spPr>
          <a:xfrm>
            <a:off x="5549153" y="5592994"/>
            <a:ext cx="779929" cy="779929"/>
          </a:xfrm>
          <a:prstGeom prst="rect">
            <a:avLst/>
          </a:prstGeom>
        </p:spPr>
      </p:pic>
      <p:pic>
        <p:nvPicPr>
          <p:cNvPr id="11" name="Picture 10">
            <a:extLst>
              <a:ext uri="{FF2B5EF4-FFF2-40B4-BE49-F238E27FC236}">
                <a16:creationId xmlns:a16="http://schemas.microsoft.com/office/drawing/2014/main" id="{32585734-E31E-4A71-B622-326FEC87E6AF}"/>
              </a:ext>
            </a:extLst>
          </p:cNvPr>
          <p:cNvPicPr>
            <a:picLocks noChangeAspect="1"/>
          </p:cNvPicPr>
          <p:nvPr/>
        </p:nvPicPr>
        <p:blipFill>
          <a:blip r:embed="rId6"/>
          <a:stretch>
            <a:fillRect/>
          </a:stretch>
        </p:blipFill>
        <p:spPr>
          <a:xfrm>
            <a:off x="8959102" y="5592994"/>
            <a:ext cx="700088" cy="700088"/>
          </a:xfrm>
          <a:prstGeom prst="rect">
            <a:avLst/>
          </a:prstGeom>
        </p:spPr>
      </p:pic>
    </p:spTree>
    <p:extLst>
      <p:ext uri="{BB962C8B-B14F-4D97-AF65-F5344CB8AC3E}">
        <p14:creationId xmlns:p14="http://schemas.microsoft.com/office/powerpoint/2010/main" val="3563842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5207-C0C5-42AE-B09C-8F350C0AFC23}"/>
              </a:ext>
            </a:extLst>
          </p:cNvPr>
          <p:cNvSpPr>
            <a:spLocks noGrp="1"/>
          </p:cNvSpPr>
          <p:nvPr>
            <p:ph type="title"/>
          </p:nvPr>
        </p:nvSpPr>
        <p:spPr/>
        <p:txBody>
          <a:bodyPr>
            <a:normAutofit/>
          </a:bodyPr>
          <a:lstStyle/>
          <a:p>
            <a:pPr algn="ctr"/>
            <a:r>
              <a:rPr lang="en-IN" sz="2800" b="1" i="1" dirty="0">
                <a:latin typeface="Segoe UI" panose="020B0502040204020203" pitchFamily="34" charset="0"/>
                <a:cs typeface="Segoe UI" panose="020B0502040204020203" pitchFamily="34" charset="0"/>
              </a:rPr>
              <a:t>Top 10 Gurus and No of Calls they made</a:t>
            </a:r>
          </a:p>
        </p:txBody>
      </p:sp>
      <p:sp>
        <p:nvSpPr>
          <p:cNvPr id="3" name="Content Placeholder 2">
            <a:extLst>
              <a:ext uri="{FF2B5EF4-FFF2-40B4-BE49-F238E27FC236}">
                <a16:creationId xmlns:a16="http://schemas.microsoft.com/office/drawing/2014/main" id="{540BDCF9-D8EC-4907-BC04-7CEC6F026DA6}"/>
              </a:ext>
            </a:extLst>
          </p:cNvPr>
          <p:cNvSpPr>
            <a:spLocks noGrp="1"/>
          </p:cNvSpPr>
          <p:nvPr>
            <p:ph idx="1"/>
          </p:nvPr>
        </p:nvSpPr>
        <p:spPr>
          <a:xfrm>
            <a:off x="838200" y="1958975"/>
            <a:ext cx="5991225" cy="3613150"/>
          </a:xfrm>
        </p:spPr>
        <p:txBody>
          <a:bodyPr>
            <a:normAutofit/>
          </a:bodyPr>
          <a:lstStyle/>
          <a:p>
            <a:r>
              <a:rPr lang="en-US" sz="1800" i="1" dirty="0">
                <a:latin typeface="Segoe UI" panose="020B0502040204020203" pitchFamily="34" charset="0"/>
              </a:rPr>
              <a:t>Over 1200 calls were handled by the top guru, indicating a high call concentration and perhaps over-reliance or excessive demand on a small number of specialists.</a:t>
            </a:r>
          </a:p>
          <a:p>
            <a:endParaRPr lang="en-US" sz="1800" i="1" dirty="0">
              <a:latin typeface="Segoe UI" panose="020B0502040204020203" pitchFamily="34" charset="0"/>
            </a:endParaRPr>
          </a:p>
          <a:p>
            <a:r>
              <a:rPr lang="en-US" sz="1800" i="1" dirty="0">
                <a:latin typeface="Segoe UI" panose="020B0502040204020203" pitchFamily="34" charset="0"/>
              </a:rPr>
              <a:t>Call volumes fluctuate considerably from 195 to 1200+, indicating an unequal workload distribution and a wide performance gap.</a:t>
            </a:r>
          </a:p>
          <a:p>
            <a:pPr marL="0" indent="0">
              <a:buNone/>
            </a:pPr>
            <a:endParaRPr lang="en-US" sz="1800" dirty="0"/>
          </a:p>
          <a:p>
            <a:r>
              <a:rPr lang="en-US" sz="1800" i="1" dirty="0">
                <a:latin typeface="Segoe UI" panose="020B0502040204020203" pitchFamily="34" charset="0"/>
              </a:rPr>
              <a:t>Call volumes vary significantly, ranging from 195 to 1200+, suggesting a large performance disparity and an uneven task distribution.</a:t>
            </a:r>
          </a:p>
          <a:p>
            <a:pPr marL="0" indent="0">
              <a:buNone/>
            </a:pPr>
            <a:endParaRPr lang="en-IN" sz="1800" dirty="0"/>
          </a:p>
        </p:txBody>
      </p:sp>
      <p:graphicFrame>
        <p:nvGraphicFramePr>
          <p:cNvPr id="4" name="Chart 3">
            <a:extLst>
              <a:ext uri="{FF2B5EF4-FFF2-40B4-BE49-F238E27FC236}">
                <a16:creationId xmlns:a16="http://schemas.microsoft.com/office/drawing/2014/main" id="{17302A3D-FB5D-4477-9BC0-6F4D4FED5818}"/>
              </a:ext>
            </a:extLst>
          </p:cNvPr>
          <p:cNvGraphicFramePr>
            <a:graphicFrameLocks/>
          </p:cNvGraphicFramePr>
          <p:nvPr>
            <p:extLst>
              <p:ext uri="{D42A27DB-BD31-4B8C-83A1-F6EECF244321}">
                <p14:modId xmlns:p14="http://schemas.microsoft.com/office/powerpoint/2010/main" val="4001050467"/>
              </p:ext>
            </p:extLst>
          </p:nvPr>
        </p:nvGraphicFramePr>
        <p:xfrm>
          <a:off x="7319607" y="2062842"/>
          <a:ext cx="4448886" cy="2732315"/>
        </p:xfrm>
        <a:graphic>
          <a:graphicData uri="http://schemas.openxmlformats.org/drawingml/2006/chart">
            <c:chart xmlns:c="http://schemas.openxmlformats.org/drawingml/2006/chart" xmlns:r="http://schemas.openxmlformats.org/officeDocument/2006/relationships" r:id="rId2"/>
          </a:graphicData>
        </a:graphic>
      </p:graphicFrame>
      <p:pic>
        <p:nvPicPr>
          <p:cNvPr id="9" name="Picture 8">
            <a:extLst>
              <a:ext uri="{FF2B5EF4-FFF2-40B4-BE49-F238E27FC236}">
                <a16:creationId xmlns:a16="http://schemas.microsoft.com/office/drawing/2014/main" id="{40321EB9-F9A5-4849-A155-843335446906}"/>
              </a:ext>
            </a:extLst>
          </p:cNvPr>
          <p:cNvPicPr>
            <a:picLocks noChangeAspect="1"/>
          </p:cNvPicPr>
          <p:nvPr/>
        </p:nvPicPr>
        <p:blipFill>
          <a:blip r:embed="rId3"/>
          <a:stretch>
            <a:fillRect/>
          </a:stretch>
        </p:blipFill>
        <p:spPr>
          <a:xfrm>
            <a:off x="1900517" y="521400"/>
            <a:ext cx="770965" cy="770965"/>
          </a:xfrm>
          <a:prstGeom prst="rect">
            <a:avLst/>
          </a:prstGeom>
        </p:spPr>
      </p:pic>
      <p:pic>
        <p:nvPicPr>
          <p:cNvPr id="11" name="Picture 10">
            <a:extLst>
              <a:ext uri="{FF2B5EF4-FFF2-40B4-BE49-F238E27FC236}">
                <a16:creationId xmlns:a16="http://schemas.microsoft.com/office/drawing/2014/main" id="{B2454D2E-DBE3-46A3-BEE8-4F3A9ED5F911}"/>
              </a:ext>
            </a:extLst>
          </p:cNvPr>
          <p:cNvPicPr>
            <a:picLocks noChangeAspect="1"/>
          </p:cNvPicPr>
          <p:nvPr/>
        </p:nvPicPr>
        <p:blipFill>
          <a:blip r:embed="rId4"/>
          <a:stretch>
            <a:fillRect/>
          </a:stretch>
        </p:blipFill>
        <p:spPr>
          <a:xfrm>
            <a:off x="1640542" y="5780181"/>
            <a:ext cx="712694" cy="712694"/>
          </a:xfrm>
          <a:prstGeom prst="rect">
            <a:avLst/>
          </a:prstGeom>
        </p:spPr>
      </p:pic>
      <p:pic>
        <p:nvPicPr>
          <p:cNvPr id="13" name="Picture 12">
            <a:extLst>
              <a:ext uri="{FF2B5EF4-FFF2-40B4-BE49-F238E27FC236}">
                <a16:creationId xmlns:a16="http://schemas.microsoft.com/office/drawing/2014/main" id="{3F137A0F-5D2F-4B4F-A121-B9C46ADF3701}"/>
              </a:ext>
            </a:extLst>
          </p:cNvPr>
          <p:cNvPicPr>
            <a:picLocks noChangeAspect="1"/>
          </p:cNvPicPr>
          <p:nvPr/>
        </p:nvPicPr>
        <p:blipFill>
          <a:blip r:embed="rId5"/>
          <a:stretch>
            <a:fillRect/>
          </a:stretch>
        </p:blipFill>
        <p:spPr>
          <a:xfrm>
            <a:off x="5320554" y="5780181"/>
            <a:ext cx="712694" cy="712694"/>
          </a:xfrm>
          <a:prstGeom prst="rect">
            <a:avLst/>
          </a:prstGeom>
        </p:spPr>
      </p:pic>
      <p:pic>
        <p:nvPicPr>
          <p:cNvPr id="15" name="Picture 14">
            <a:extLst>
              <a:ext uri="{FF2B5EF4-FFF2-40B4-BE49-F238E27FC236}">
                <a16:creationId xmlns:a16="http://schemas.microsoft.com/office/drawing/2014/main" id="{8D39AEB3-F32E-49D1-BBFC-704067C456D0}"/>
              </a:ext>
            </a:extLst>
          </p:cNvPr>
          <p:cNvPicPr>
            <a:picLocks noChangeAspect="1"/>
          </p:cNvPicPr>
          <p:nvPr/>
        </p:nvPicPr>
        <p:blipFill>
          <a:blip r:embed="rId6"/>
          <a:stretch>
            <a:fillRect/>
          </a:stretch>
        </p:blipFill>
        <p:spPr>
          <a:xfrm>
            <a:off x="9084048" y="5572125"/>
            <a:ext cx="712695" cy="712695"/>
          </a:xfrm>
          <a:prstGeom prst="rect">
            <a:avLst/>
          </a:prstGeom>
        </p:spPr>
      </p:pic>
    </p:spTree>
    <p:extLst>
      <p:ext uri="{BB962C8B-B14F-4D97-AF65-F5344CB8AC3E}">
        <p14:creationId xmlns:p14="http://schemas.microsoft.com/office/powerpoint/2010/main" val="3138207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B3A34-1FB5-4C0B-B829-7035F4FB6DCF}"/>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Top 10 Gurus by Rating</a:t>
            </a:r>
          </a:p>
        </p:txBody>
      </p:sp>
      <p:sp>
        <p:nvSpPr>
          <p:cNvPr id="3" name="Content Placeholder 2">
            <a:extLst>
              <a:ext uri="{FF2B5EF4-FFF2-40B4-BE49-F238E27FC236}">
                <a16:creationId xmlns:a16="http://schemas.microsoft.com/office/drawing/2014/main" id="{CAFF3003-38B4-4DAE-A36E-D3B99DE71B1A}"/>
              </a:ext>
            </a:extLst>
          </p:cNvPr>
          <p:cNvSpPr>
            <a:spLocks noGrp="1"/>
          </p:cNvSpPr>
          <p:nvPr>
            <p:ph idx="1"/>
          </p:nvPr>
        </p:nvSpPr>
        <p:spPr>
          <a:xfrm>
            <a:off x="838200" y="1825625"/>
            <a:ext cx="5972175" cy="4351338"/>
          </a:xfrm>
        </p:spPr>
        <p:txBody>
          <a:bodyPr/>
          <a:lstStyle/>
          <a:p>
            <a:r>
              <a:rPr lang="en-US" sz="1800" i="1" dirty="0">
                <a:latin typeface="Segoe UI" panose="020B0502040204020203" pitchFamily="34" charset="0"/>
              </a:rPr>
              <a:t>Strong start-of-call attentiveness is indicated by high participation in the first few minutes, with approximately 100% involvement at the five-minute point.</a:t>
            </a:r>
          </a:p>
          <a:p>
            <a:endParaRPr lang="en-US" sz="1800" i="1" dirty="0">
              <a:latin typeface="Segoe UI" panose="020B0502040204020203" pitchFamily="34" charset="0"/>
            </a:endParaRPr>
          </a:p>
          <a:p>
            <a:r>
              <a:rPr lang="en-US" sz="1800" i="1" dirty="0">
                <a:latin typeface="Segoe UI" panose="020B0502040204020203" pitchFamily="34" charset="0"/>
              </a:rPr>
              <a:t>Quick decline after 10 minutes; by 15 minutes, participation is less than 50%, indicating difficulties with maintaining focus throughout longer calls.</a:t>
            </a:r>
          </a:p>
          <a:p>
            <a:endParaRPr lang="en-US" sz="1800" i="1" dirty="0">
              <a:latin typeface="Segoe UI" panose="020B0502040204020203" pitchFamily="34" charset="0"/>
            </a:endParaRPr>
          </a:p>
          <a:p>
            <a:r>
              <a:rPr lang="en-US" sz="1800" i="1" dirty="0">
                <a:latin typeface="Segoe UI" panose="020B0502040204020203" pitchFamily="34" charset="0"/>
              </a:rPr>
              <a:t>Minimal long-term engagement—after 20 minutes, participation is almost nonexistent, indicating the need for call methods that are shorter and more targeted.</a:t>
            </a:r>
            <a:endParaRPr lang="en-IN" sz="1800" i="1" dirty="0">
              <a:latin typeface="Segoe UI" panose="020B0502040204020203" pitchFamily="34" charset="0"/>
            </a:endParaRPr>
          </a:p>
        </p:txBody>
      </p:sp>
      <p:graphicFrame>
        <p:nvGraphicFramePr>
          <p:cNvPr id="5" name="Chart 4">
            <a:extLst>
              <a:ext uri="{FF2B5EF4-FFF2-40B4-BE49-F238E27FC236}">
                <a16:creationId xmlns:a16="http://schemas.microsoft.com/office/drawing/2014/main" id="{07CEE684-F58D-4C03-81DC-DBC0D0867F13}"/>
              </a:ext>
            </a:extLst>
          </p:cNvPr>
          <p:cNvGraphicFramePr>
            <a:graphicFrameLocks/>
          </p:cNvGraphicFramePr>
          <p:nvPr>
            <p:extLst>
              <p:ext uri="{D42A27DB-BD31-4B8C-83A1-F6EECF244321}">
                <p14:modId xmlns:p14="http://schemas.microsoft.com/office/powerpoint/2010/main" val="2775102711"/>
              </p:ext>
            </p:extLst>
          </p:nvPr>
        </p:nvGraphicFramePr>
        <p:xfrm>
          <a:off x="7726927" y="2305049"/>
          <a:ext cx="4396246" cy="2743201"/>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a:extLst>
              <a:ext uri="{FF2B5EF4-FFF2-40B4-BE49-F238E27FC236}">
                <a16:creationId xmlns:a16="http://schemas.microsoft.com/office/drawing/2014/main" id="{3C3C024C-DCCD-441C-B443-A02E203C212C}"/>
              </a:ext>
            </a:extLst>
          </p:cNvPr>
          <p:cNvPicPr>
            <a:picLocks noChangeAspect="1"/>
          </p:cNvPicPr>
          <p:nvPr/>
        </p:nvPicPr>
        <p:blipFill>
          <a:blip r:embed="rId3"/>
          <a:stretch>
            <a:fillRect/>
          </a:stretch>
        </p:blipFill>
        <p:spPr>
          <a:xfrm>
            <a:off x="2277035" y="591670"/>
            <a:ext cx="998959" cy="833718"/>
          </a:xfrm>
          <a:prstGeom prst="rect">
            <a:avLst/>
          </a:prstGeom>
        </p:spPr>
      </p:pic>
      <p:pic>
        <p:nvPicPr>
          <p:cNvPr id="8" name="Picture 7">
            <a:extLst>
              <a:ext uri="{FF2B5EF4-FFF2-40B4-BE49-F238E27FC236}">
                <a16:creationId xmlns:a16="http://schemas.microsoft.com/office/drawing/2014/main" id="{6EF6666E-0614-4124-A339-48A23D5E765C}"/>
              </a:ext>
            </a:extLst>
          </p:cNvPr>
          <p:cNvPicPr>
            <a:picLocks noChangeAspect="1"/>
          </p:cNvPicPr>
          <p:nvPr/>
        </p:nvPicPr>
        <p:blipFill>
          <a:blip r:embed="rId4"/>
          <a:stretch>
            <a:fillRect/>
          </a:stretch>
        </p:blipFill>
        <p:spPr>
          <a:xfrm flipH="1">
            <a:off x="1591235" y="5531972"/>
            <a:ext cx="779928" cy="779928"/>
          </a:xfrm>
          <a:prstGeom prst="rect">
            <a:avLst/>
          </a:prstGeom>
        </p:spPr>
      </p:pic>
      <p:pic>
        <p:nvPicPr>
          <p:cNvPr id="10" name="Picture 9">
            <a:extLst>
              <a:ext uri="{FF2B5EF4-FFF2-40B4-BE49-F238E27FC236}">
                <a16:creationId xmlns:a16="http://schemas.microsoft.com/office/drawing/2014/main" id="{41FD7D24-D2C4-47B7-B909-204EE31F2EBF}"/>
              </a:ext>
            </a:extLst>
          </p:cNvPr>
          <p:cNvPicPr>
            <a:picLocks noChangeAspect="1"/>
          </p:cNvPicPr>
          <p:nvPr/>
        </p:nvPicPr>
        <p:blipFill>
          <a:blip r:embed="rId5"/>
          <a:stretch>
            <a:fillRect/>
          </a:stretch>
        </p:blipFill>
        <p:spPr>
          <a:xfrm>
            <a:off x="5316071" y="5522831"/>
            <a:ext cx="779929" cy="789069"/>
          </a:xfrm>
          <a:prstGeom prst="rect">
            <a:avLst/>
          </a:prstGeom>
        </p:spPr>
      </p:pic>
      <p:pic>
        <p:nvPicPr>
          <p:cNvPr id="14" name="Picture 13">
            <a:extLst>
              <a:ext uri="{FF2B5EF4-FFF2-40B4-BE49-F238E27FC236}">
                <a16:creationId xmlns:a16="http://schemas.microsoft.com/office/drawing/2014/main" id="{923422DC-D381-4D3D-AC06-D138C6E37818}"/>
              </a:ext>
            </a:extLst>
          </p:cNvPr>
          <p:cNvPicPr>
            <a:picLocks noChangeAspect="1"/>
          </p:cNvPicPr>
          <p:nvPr/>
        </p:nvPicPr>
        <p:blipFill>
          <a:blip r:embed="rId6"/>
          <a:stretch>
            <a:fillRect/>
          </a:stretch>
        </p:blipFill>
        <p:spPr>
          <a:xfrm>
            <a:off x="9040908" y="5531972"/>
            <a:ext cx="741919" cy="741919"/>
          </a:xfrm>
          <a:prstGeom prst="rect">
            <a:avLst/>
          </a:prstGeom>
        </p:spPr>
      </p:pic>
    </p:spTree>
    <p:extLst>
      <p:ext uri="{BB962C8B-B14F-4D97-AF65-F5344CB8AC3E}">
        <p14:creationId xmlns:p14="http://schemas.microsoft.com/office/powerpoint/2010/main" val="2865447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45174-2F96-4A08-B2F6-24EED1FA5350}"/>
              </a:ext>
            </a:extLst>
          </p:cNvPr>
          <p:cNvSpPr>
            <a:spLocks noGrp="1"/>
          </p:cNvSpPr>
          <p:nvPr>
            <p:ph type="title"/>
          </p:nvPr>
        </p:nvSpPr>
        <p:spPr/>
        <p:txBody>
          <a:bodyPr>
            <a:normAutofit/>
          </a:bodyPr>
          <a:lstStyle/>
          <a:p>
            <a:pPr algn="ctr"/>
            <a:r>
              <a:rPr lang="en-IN" sz="3600" b="1" i="1" dirty="0">
                <a:latin typeface="Segoe UI" panose="020B0502040204020203" pitchFamily="34" charset="0"/>
                <a:cs typeface="Segoe UI" panose="020B0502040204020203" pitchFamily="34" charset="0"/>
              </a:rPr>
              <a:t>Rating vs Users</a:t>
            </a:r>
          </a:p>
        </p:txBody>
      </p:sp>
      <p:sp>
        <p:nvSpPr>
          <p:cNvPr id="3" name="Content Placeholder 2">
            <a:extLst>
              <a:ext uri="{FF2B5EF4-FFF2-40B4-BE49-F238E27FC236}">
                <a16:creationId xmlns:a16="http://schemas.microsoft.com/office/drawing/2014/main" id="{5FD263F3-8B0D-4E33-9B04-9A9F02057F1F}"/>
              </a:ext>
            </a:extLst>
          </p:cNvPr>
          <p:cNvSpPr>
            <a:spLocks noGrp="1"/>
          </p:cNvSpPr>
          <p:nvPr>
            <p:ph idx="1"/>
          </p:nvPr>
        </p:nvSpPr>
        <p:spPr>
          <a:xfrm>
            <a:off x="838200" y="1825625"/>
            <a:ext cx="6337092" cy="3944650"/>
          </a:xfrm>
        </p:spPr>
        <p:txBody>
          <a:bodyPr>
            <a:normAutofit/>
          </a:bodyPr>
          <a:lstStyle/>
          <a:p>
            <a:pPr>
              <a:lnSpc>
                <a:spcPct val="150000"/>
              </a:lnSpc>
            </a:pPr>
            <a:r>
              <a:rPr lang="en-US" sz="1900" i="1" dirty="0">
                <a:latin typeface="Segoe UI" panose="020B0502040204020203" pitchFamily="34" charset="0"/>
              </a:rPr>
              <a:t>There are very few high scores (7–8), while the majority of evaluations are poor (0–3), suggesting possible discontent.</a:t>
            </a:r>
          </a:p>
          <a:p>
            <a:pPr>
              <a:lnSpc>
                <a:spcPct val="150000"/>
              </a:lnSpc>
            </a:pPr>
            <a:r>
              <a:rPr lang="en-US" sz="1900" i="1" dirty="0">
                <a:latin typeface="Segoe UI" panose="020B0502040204020203" pitchFamily="34" charset="0"/>
              </a:rPr>
              <a:t>The majority of ratings are zero, indicating either insufficient data or a large number of inactive users.</a:t>
            </a:r>
          </a:p>
          <a:p>
            <a:pPr>
              <a:lnSpc>
                <a:spcPct val="150000"/>
              </a:lnSpc>
            </a:pPr>
            <a:r>
              <a:rPr lang="en-US" sz="1900" i="1" dirty="0">
                <a:latin typeface="Segoe UI" panose="020B0502040204020203" pitchFamily="34" charset="0"/>
              </a:rPr>
              <a:t>The distribution is polarized, with consumers favoring mid-low ratings over neutral or extremely high ones.</a:t>
            </a:r>
          </a:p>
          <a:p>
            <a:endParaRPr lang="en-IN" dirty="0"/>
          </a:p>
        </p:txBody>
      </p:sp>
      <p:graphicFrame>
        <p:nvGraphicFramePr>
          <p:cNvPr id="5" name="Chart 4">
            <a:extLst>
              <a:ext uri="{FF2B5EF4-FFF2-40B4-BE49-F238E27FC236}">
                <a16:creationId xmlns:a16="http://schemas.microsoft.com/office/drawing/2014/main" id="{C44DE248-6073-4A85-9B43-AD2F462C4EBF}"/>
              </a:ext>
            </a:extLst>
          </p:cNvPr>
          <p:cNvGraphicFramePr>
            <a:graphicFrameLocks/>
          </p:cNvGraphicFramePr>
          <p:nvPr>
            <p:extLst>
              <p:ext uri="{D42A27DB-BD31-4B8C-83A1-F6EECF244321}">
                <p14:modId xmlns:p14="http://schemas.microsoft.com/office/powerpoint/2010/main" val="3454140322"/>
              </p:ext>
            </p:extLst>
          </p:nvPr>
        </p:nvGraphicFramePr>
        <p:xfrm>
          <a:off x="7175292" y="1690688"/>
          <a:ext cx="4178508" cy="2754024"/>
        </p:xfrm>
        <a:graphic>
          <a:graphicData uri="http://schemas.openxmlformats.org/drawingml/2006/chart">
            <c:chart xmlns:c="http://schemas.openxmlformats.org/drawingml/2006/chart" xmlns:r="http://schemas.openxmlformats.org/officeDocument/2006/relationships" r:id="rId2"/>
          </a:graphicData>
        </a:graphic>
      </p:graphicFrame>
      <p:pic>
        <p:nvPicPr>
          <p:cNvPr id="12" name="Picture 11">
            <a:extLst>
              <a:ext uri="{FF2B5EF4-FFF2-40B4-BE49-F238E27FC236}">
                <a16:creationId xmlns:a16="http://schemas.microsoft.com/office/drawing/2014/main" id="{35AD6496-65A9-46FB-961A-8687A89CD4B6}"/>
              </a:ext>
            </a:extLst>
          </p:cNvPr>
          <p:cNvPicPr>
            <a:picLocks noChangeAspect="1"/>
          </p:cNvPicPr>
          <p:nvPr/>
        </p:nvPicPr>
        <p:blipFill>
          <a:blip r:embed="rId3"/>
          <a:stretch>
            <a:fillRect/>
          </a:stretch>
        </p:blipFill>
        <p:spPr>
          <a:xfrm>
            <a:off x="2695576" y="681318"/>
            <a:ext cx="765688" cy="765688"/>
          </a:xfrm>
          <a:prstGeom prst="rect">
            <a:avLst/>
          </a:prstGeom>
        </p:spPr>
      </p:pic>
    </p:spTree>
    <p:extLst>
      <p:ext uri="{BB962C8B-B14F-4D97-AF65-F5344CB8AC3E}">
        <p14:creationId xmlns:p14="http://schemas.microsoft.com/office/powerpoint/2010/main" val="958514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DC40A-576E-49AA-9739-0559CE543E4C}"/>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Day Wise Call Volume</a:t>
            </a:r>
          </a:p>
        </p:txBody>
      </p:sp>
      <p:sp>
        <p:nvSpPr>
          <p:cNvPr id="3" name="Content Placeholder 2">
            <a:extLst>
              <a:ext uri="{FF2B5EF4-FFF2-40B4-BE49-F238E27FC236}">
                <a16:creationId xmlns:a16="http://schemas.microsoft.com/office/drawing/2014/main" id="{CB3C3B8A-82FB-44B5-A4E8-7127DC4FADCB}"/>
              </a:ext>
            </a:extLst>
          </p:cNvPr>
          <p:cNvSpPr>
            <a:spLocks noGrp="1"/>
          </p:cNvSpPr>
          <p:nvPr>
            <p:ph idx="1"/>
          </p:nvPr>
        </p:nvSpPr>
        <p:spPr>
          <a:xfrm>
            <a:off x="838200" y="1825625"/>
            <a:ext cx="6124575" cy="4060825"/>
          </a:xfrm>
        </p:spPr>
        <p:txBody>
          <a:bodyPr/>
          <a:lstStyle/>
          <a:p>
            <a:r>
              <a:rPr lang="en-US" sz="1800" i="1" dirty="0">
                <a:latin typeface="Segoe UI" panose="020B0502040204020203" pitchFamily="34" charset="0"/>
              </a:rPr>
              <a:t>Sundays have the highest call volume (4,592), showing peak demand and a reliance on support during the weekend.</a:t>
            </a:r>
          </a:p>
          <a:p>
            <a:pPr marL="0" indent="0">
              <a:buNone/>
            </a:pPr>
            <a:endParaRPr lang="en-US" sz="1800" i="1" dirty="0">
              <a:latin typeface="Segoe UI" panose="020B0502040204020203" pitchFamily="34" charset="0"/>
            </a:endParaRPr>
          </a:p>
          <a:p>
            <a:r>
              <a:rPr lang="en-US" sz="1800" i="1" dirty="0">
                <a:latin typeface="Segoe UI" panose="020B0502040204020203" pitchFamily="34" charset="0"/>
              </a:rPr>
              <a:t>Tuesday through Thursday saw a midweek fall (less than 3,400 calls), indicating a decrease in consumer urgency or service demand.</a:t>
            </a:r>
          </a:p>
          <a:p>
            <a:endParaRPr lang="en-US" sz="1800" i="1" dirty="0">
              <a:latin typeface="Segoe UI" panose="020B0502040204020203" pitchFamily="34" charset="0"/>
            </a:endParaRPr>
          </a:p>
          <a:p>
            <a:r>
              <a:rPr lang="en-US" sz="1800" i="1" dirty="0">
                <a:latin typeface="Segoe UI" panose="020B0502040204020203" pitchFamily="34" charset="0"/>
              </a:rPr>
              <a:t>Weekend rebound: Friday and Saturday call volumes above 4,200, demonstrating steady end-of-week engagement.</a:t>
            </a:r>
            <a:endParaRPr lang="en-IN" sz="1800" i="1" dirty="0">
              <a:latin typeface="Segoe UI" panose="020B0502040204020203" pitchFamily="34" charset="0"/>
            </a:endParaRPr>
          </a:p>
        </p:txBody>
      </p:sp>
      <p:graphicFrame>
        <p:nvGraphicFramePr>
          <p:cNvPr id="6" name="Chart 5">
            <a:extLst>
              <a:ext uri="{FF2B5EF4-FFF2-40B4-BE49-F238E27FC236}">
                <a16:creationId xmlns:a16="http://schemas.microsoft.com/office/drawing/2014/main" id="{2BD0FA6D-31DB-4B5B-8C4B-268DDC7EE1F5}"/>
              </a:ext>
            </a:extLst>
          </p:cNvPr>
          <p:cNvGraphicFramePr>
            <a:graphicFrameLocks/>
          </p:cNvGraphicFramePr>
          <p:nvPr>
            <p:extLst>
              <p:ext uri="{D42A27DB-BD31-4B8C-83A1-F6EECF244321}">
                <p14:modId xmlns:p14="http://schemas.microsoft.com/office/powerpoint/2010/main" val="4008605555"/>
              </p:ext>
            </p:extLst>
          </p:nvPr>
        </p:nvGraphicFramePr>
        <p:xfrm>
          <a:off x="7230560" y="2057399"/>
          <a:ext cx="4123240" cy="2743201"/>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a:extLst>
              <a:ext uri="{FF2B5EF4-FFF2-40B4-BE49-F238E27FC236}">
                <a16:creationId xmlns:a16="http://schemas.microsoft.com/office/drawing/2014/main" id="{EF632F04-71AB-4A97-AE23-AFA582E74BBF}"/>
              </a:ext>
            </a:extLst>
          </p:cNvPr>
          <p:cNvPicPr>
            <a:picLocks noChangeAspect="1"/>
          </p:cNvPicPr>
          <p:nvPr/>
        </p:nvPicPr>
        <p:blipFill>
          <a:blip r:embed="rId3"/>
          <a:stretch>
            <a:fillRect/>
          </a:stretch>
        </p:blipFill>
        <p:spPr>
          <a:xfrm>
            <a:off x="3214687" y="628650"/>
            <a:ext cx="685800" cy="685800"/>
          </a:xfrm>
          <a:prstGeom prst="rect">
            <a:avLst/>
          </a:prstGeom>
        </p:spPr>
      </p:pic>
      <p:pic>
        <p:nvPicPr>
          <p:cNvPr id="9" name="Picture 8">
            <a:extLst>
              <a:ext uri="{FF2B5EF4-FFF2-40B4-BE49-F238E27FC236}">
                <a16:creationId xmlns:a16="http://schemas.microsoft.com/office/drawing/2014/main" id="{E8A58720-26A1-43E8-8AAF-BFF1A254A702}"/>
              </a:ext>
            </a:extLst>
          </p:cNvPr>
          <p:cNvPicPr>
            <a:picLocks noChangeAspect="1"/>
          </p:cNvPicPr>
          <p:nvPr/>
        </p:nvPicPr>
        <p:blipFill>
          <a:blip r:embed="rId4"/>
          <a:stretch>
            <a:fillRect/>
          </a:stretch>
        </p:blipFill>
        <p:spPr>
          <a:xfrm>
            <a:off x="1506071" y="5414402"/>
            <a:ext cx="944096" cy="944096"/>
          </a:xfrm>
          <a:prstGeom prst="rect">
            <a:avLst/>
          </a:prstGeom>
        </p:spPr>
      </p:pic>
      <p:pic>
        <p:nvPicPr>
          <p:cNvPr id="11" name="Picture 10">
            <a:extLst>
              <a:ext uri="{FF2B5EF4-FFF2-40B4-BE49-F238E27FC236}">
                <a16:creationId xmlns:a16="http://schemas.microsoft.com/office/drawing/2014/main" id="{EEB06978-8E5E-437D-BF38-2603E8835AB8}"/>
              </a:ext>
            </a:extLst>
          </p:cNvPr>
          <p:cNvPicPr>
            <a:picLocks noChangeAspect="1"/>
          </p:cNvPicPr>
          <p:nvPr/>
        </p:nvPicPr>
        <p:blipFill>
          <a:blip r:embed="rId5"/>
          <a:stretch>
            <a:fillRect/>
          </a:stretch>
        </p:blipFill>
        <p:spPr>
          <a:xfrm>
            <a:off x="5629837" y="5512173"/>
            <a:ext cx="748554" cy="748554"/>
          </a:xfrm>
          <a:prstGeom prst="rect">
            <a:avLst/>
          </a:prstGeom>
        </p:spPr>
      </p:pic>
      <p:pic>
        <p:nvPicPr>
          <p:cNvPr id="13" name="Picture 12">
            <a:extLst>
              <a:ext uri="{FF2B5EF4-FFF2-40B4-BE49-F238E27FC236}">
                <a16:creationId xmlns:a16="http://schemas.microsoft.com/office/drawing/2014/main" id="{DDCEF3DE-E5BB-4EBA-B30D-0B6C7AEFF544}"/>
              </a:ext>
            </a:extLst>
          </p:cNvPr>
          <p:cNvPicPr>
            <a:picLocks noChangeAspect="1"/>
          </p:cNvPicPr>
          <p:nvPr/>
        </p:nvPicPr>
        <p:blipFill>
          <a:blip r:embed="rId6"/>
          <a:stretch>
            <a:fillRect/>
          </a:stretch>
        </p:blipFill>
        <p:spPr>
          <a:xfrm>
            <a:off x="9183784" y="5414402"/>
            <a:ext cx="748554" cy="748554"/>
          </a:xfrm>
          <a:prstGeom prst="rect">
            <a:avLst/>
          </a:prstGeom>
        </p:spPr>
      </p:pic>
    </p:spTree>
    <p:extLst>
      <p:ext uri="{BB962C8B-B14F-4D97-AF65-F5344CB8AC3E}">
        <p14:creationId xmlns:p14="http://schemas.microsoft.com/office/powerpoint/2010/main" val="3301901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FA7A4-B799-4ADA-8DEC-EE825EC556CA}"/>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Website and Calls</a:t>
            </a:r>
          </a:p>
        </p:txBody>
      </p:sp>
      <p:sp>
        <p:nvSpPr>
          <p:cNvPr id="3" name="Content Placeholder 2">
            <a:extLst>
              <a:ext uri="{FF2B5EF4-FFF2-40B4-BE49-F238E27FC236}">
                <a16:creationId xmlns:a16="http://schemas.microsoft.com/office/drawing/2014/main" id="{E1A7B442-2DCB-455F-BD32-47387F49A01B}"/>
              </a:ext>
            </a:extLst>
          </p:cNvPr>
          <p:cNvSpPr>
            <a:spLocks noGrp="1"/>
          </p:cNvSpPr>
          <p:nvPr>
            <p:ph idx="1"/>
          </p:nvPr>
        </p:nvSpPr>
        <p:spPr>
          <a:xfrm>
            <a:off x="838200" y="1825625"/>
            <a:ext cx="6667500" cy="4003675"/>
          </a:xfrm>
        </p:spPr>
        <p:txBody>
          <a:bodyPr>
            <a:normAutofit/>
          </a:bodyPr>
          <a:lstStyle/>
          <a:p>
            <a:r>
              <a:rPr lang="en-US" sz="1800" i="1" dirty="0">
                <a:latin typeface="Segoe UI" panose="020B0502040204020203" pitchFamily="34" charset="0"/>
                <a:cs typeface="Segoe UI" panose="020B0502040204020203" pitchFamily="34" charset="0"/>
              </a:rPr>
              <a:t>With 72% usage, the app is the most popular platform for interacting with customers.</a:t>
            </a:r>
          </a:p>
          <a:p>
            <a:endParaRPr lang="en-US" sz="1800" i="1" dirty="0">
              <a:latin typeface="Segoe UI" panose="020B0502040204020203" pitchFamily="34" charset="0"/>
              <a:cs typeface="Segoe UI" panose="020B0502040204020203" pitchFamily="34" charset="0"/>
            </a:endParaRPr>
          </a:p>
          <a:p>
            <a:r>
              <a:rPr lang="en-US" sz="1800" i="1" dirty="0">
                <a:latin typeface="Segoe UI" panose="020B0502040204020203" pitchFamily="34" charset="0"/>
                <a:cs typeface="Segoe UI" panose="020B0502040204020203" pitchFamily="34" charset="0"/>
              </a:rPr>
              <a:t>With only 28% of the total, Gurucool appears to be a secondary or specialized channel with far lower interaction.</a:t>
            </a:r>
          </a:p>
          <a:p>
            <a:endParaRPr lang="en-IN" sz="1800" i="1" dirty="0">
              <a:latin typeface="Segoe UI" panose="020B0502040204020203" pitchFamily="34" charset="0"/>
              <a:cs typeface="Segoe UI" panose="020B0502040204020203" pitchFamily="34" charset="0"/>
            </a:endParaRPr>
          </a:p>
          <a:p>
            <a:r>
              <a:rPr lang="en-US" sz="1800" i="1" dirty="0">
                <a:latin typeface="Segoe UI" panose="020B0502040204020203" pitchFamily="34" charset="0"/>
                <a:cs typeface="Segoe UI" panose="020B0502040204020203" pitchFamily="34" charset="0"/>
              </a:rPr>
              <a:t>Over-reliance on app such a large disparity (72% vs. 28%) may indicate a channel imbalance, underscoring the necessity of promoting Gurucool to diversify access and lower platform risk.</a:t>
            </a:r>
          </a:p>
          <a:p>
            <a:endParaRPr lang="en-IN" sz="1800" i="1" dirty="0">
              <a:latin typeface="Segoe UI" panose="020B0502040204020203" pitchFamily="34" charset="0"/>
              <a:cs typeface="Segoe UI" panose="020B0502040204020203" pitchFamily="34" charset="0"/>
            </a:endParaRPr>
          </a:p>
        </p:txBody>
      </p:sp>
      <p:graphicFrame>
        <p:nvGraphicFramePr>
          <p:cNvPr id="5" name="Chart 4">
            <a:extLst>
              <a:ext uri="{FF2B5EF4-FFF2-40B4-BE49-F238E27FC236}">
                <a16:creationId xmlns:a16="http://schemas.microsoft.com/office/drawing/2014/main" id="{F72B6473-0E06-42E4-9576-7C69B83EECCC}"/>
              </a:ext>
            </a:extLst>
          </p:cNvPr>
          <p:cNvGraphicFramePr>
            <a:graphicFrameLocks/>
          </p:cNvGraphicFramePr>
          <p:nvPr>
            <p:extLst>
              <p:ext uri="{D42A27DB-BD31-4B8C-83A1-F6EECF244321}">
                <p14:modId xmlns:p14="http://schemas.microsoft.com/office/powerpoint/2010/main" val="83968902"/>
              </p:ext>
            </p:extLst>
          </p:nvPr>
        </p:nvGraphicFramePr>
        <p:xfrm>
          <a:off x="7010398" y="2095500"/>
          <a:ext cx="4057653" cy="2667000"/>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a:extLst>
              <a:ext uri="{FF2B5EF4-FFF2-40B4-BE49-F238E27FC236}">
                <a16:creationId xmlns:a16="http://schemas.microsoft.com/office/drawing/2014/main" id="{D74327EF-6696-4B54-A77A-C44C63FEC359}"/>
              </a:ext>
            </a:extLst>
          </p:cNvPr>
          <p:cNvPicPr>
            <a:picLocks noChangeAspect="1"/>
          </p:cNvPicPr>
          <p:nvPr/>
        </p:nvPicPr>
        <p:blipFill>
          <a:blip r:embed="rId3"/>
          <a:stretch>
            <a:fillRect/>
          </a:stretch>
        </p:blipFill>
        <p:spPr>
          <a:xfrm>
            <a:off x="3468220" y="659255"/>
            <a:ext cx="738889" cy="738889"/>
          </a:xfrm>
          <a:prstGeom prst="rect">
            <a:avLst/>
          </a:prstGeom>
        </p:spPr>
      </p:pic>
      <p:pic>
        <p:nvPicPr>
          <p:cNvPr id="12" name="Picture 11">
            <a:extLst>
              <a:ext uri="{FF2B5EF4-FFF2-40B4-BE49-F238E27FC236}">
                <a16:creationId xmlns:a16="http://schemas.microsoft.com/office/drawing/2014/main" id="{FCF3E512-E304-47D1-A7AB-7DDCD63A3B95}"/>
              </a:ext>
            </a:extLst>
          </p:cNvPr>
          <p:cNvPicPr>
            <a:picLocks noChangeAspect="1"/>
          </p:cNvPicPr>
          <p:nvPr/>
        </p:nvPicPr>
        <p:blipFill>
          <a:blip r:embed="rId4"/>
          <a:stretch>
            <a:fillRect/>
          </a:stretch>
        </p:blipFill>
        <p:spPr>
          <a:xfrm>
            <a:off x="4394948" y="5385546"/>
            <a:ext cx="820271" cy="820271"/>
          </a:xfrm>
          <a:prstGeom prst="rect">
            <a:avLst/>
          </a:prstGeom>
        </p:spPr>
      </p:pic>
      <p:pic>
        <p:nvPicPr>
          <p:cNvPr id="14" name="Picture 13">
            <a:extLst>
              <a:ext uri="{FF2B5EF4-FFF2-40B4-BE49-F238E27FC236}">
                <a16:creationId xmlns:a16="http://schemas.microsoft.com/office/drawing/2014/main" id="{BF994475-9773-4A70-9031-1C13A47F77FF}"/>
              </a:ext>
            </a:extLst>
          </p:cNvPr>
          <p:cNvPicPr>
            <a:picLocks noChangeAspect="1"/>
          </p:cNvPicPr>
          <p:nvPr/>
        </p:nvPicPr>
        <p:blipFill>
          <a:blip r:embed="rId5"/>
          <a:stretch>
            <a:fillRect/>
          </a:stretch>
        </p:blipFill>
        <p:spPr>
          <a:xfrm>
            <a:off x="1136279" y="5351929"/>
            <a:ext cx="775447" cy="775447"/>
          </a:xfrm>
          <a:prstGeom prst="rect">
            <a:avLst/>
          </a:prstGeom>
        </p:spPr>
      </p:pic>
      <p:pic>
        <p:nvPicPr>
          <p:cNvPr id="16" name="Picture 15">
            <a:extLst>
              <a:ext uri="{FF2B5EF4-FFF2-40B4-BE49-F238E27FC236}">
                <a16:creationId xmlns:a16="http://schemas.microsoft.com/office/drawing/2014/main" id="{7C9B4316-22CD-49AC-B502-6E84DAAB57A3}"/>
              </a:ext>
            </a:extLst>
          </p:cNvPr>
          <p:cNvPicPr>
            <a:picLocks noChangeAspect="1"/>
          </p:cNvPicPr>
          <p:nvPr/>
        </p:nvPicPr>
        <p:blipFill>
          <a:blip r:embed="rId6"/>
          <a:stretch>
            <a:fillRect/>
          </a:stretch>
        </p:blipFill>
        <p:spPr>
          <a:xfrm>
            <a:off x="8281147" y="5351929"/>
            <a:ext cx="887506" cy="887506"/>
          </a:xfrm>
          <a:prstGeom prst="rect">
            <a:avLst/>
          </a:prstGeom>
        </p:spPr>
      </p:pic>
    </p:spTree>
    <p:extLst>
      <p:ext uri="{BB962C8B-B14F-4D97-AF65-F5344CB8AC3E}">
        <p14:creationId xmlns:p14="http://schemas.microsoft.com/office/powerpoint/2010/main" val="2669980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73103-7D45-48B0-A7BD-1732C7384B28}"/>
              </a:ext>
            </a:extLst>
          </p:cNvPr>
          <p:cNvSpPr>
            <a:spLocks noGrp="1"/>
          </p:cNvSpPr>
          <p:nvPr>
            <p:ph type="title"/>
          </p:nvPr>
        </p:nvSpPr>
        <p:spPr/>
        <p:txBody>
          <a:bodyPr>
            <a:normAutofit/>
          </a:bodyPr>
          <a:lstStyle/>
          <a:p>
            <a:pPr algn="ctr"/>
            <a:r>
              <a:rPr lang="en-IN" sz="3600" b="1" i="1" dirty="0">
                <a:latin typeface="Segoe UI" panose="020B0502040204020203" pitchFamily="34" charset="0"/>
                <a:cs typeface="Segoe UI" panose="020B0502040204020203" pitchFamily="34" charset="0"/>
              </a:rPr>
              <a:t>Key Strategic Insights</a:t>
            </a:r>
          </a:p>
        </p:txBody>
      </p:sp>
      <p:sp>
        <p:nvSpPr>
          <p:cNvPr id="3" name="Content Placeholder 2">
            <a:extLst>
              <a:ext uri="{FF2B5EF4-FFF2-40B4-BE49-F238E27FC236}">
                <a16:creationId xmlns:a16="http://schemas.microsoft.com/office/drawing/2014/main" id="{91B3C347-07AF-40F8-8A49-BF9AB263F9D8}"/>
              </a:ext>
            </a:extLst>
          </p:cNvPr>
          <p:cNvSpPr>
            <a:spLocks noGrp="1"/>
          </p:cNvSpPr>
          <p:nvPr>
            <p:ph idx="1"/>
          </p:nvPr>
        </p:nvSpPr>
        <p:spPr>
          <a:xfrm>
            <a:off x="878538" y="1454383"/>
            <a:ext cx="7355542" cy="4590210"/>
          </a:xfrm>
        </p:spPr>
        <p:txBody>
          <a:bodyPr>
            <a:normAutofit fontScale="92500" lnSpcReduction="10000"/>
          </a:bodyPr>
          <a:lstStyle/>
          <a:p>
            <a:pPr marL="0" indent="0">
              <a:buNone/>
            </a:pPr>
            <a:r>
              <a:rPr lang="en-GB" sz="1700" b="1" i="1" dirty="0">
                <a:solidFill>
                  <a:srgbClr val="C55A11"/>
                </a:solidFill>
                <a:effectLst/>
                <a:latin typeface="Segoe UI" panose="020B0502040204020203" pitchFamily="34" charset="0"/>
                <a:ea typeface="Arial" panose="020B0604020202020204" pitchFamily="34" charset="0"/>
              </a:rPr>
              <a:t>Skill-Based Routing Driven by AI</a:t>
            </a:r>
            <a:r>
              <a:rPr lang="en-GB" sz="1700" dirty="0">
                <a:solidFill>
                  <a:srgbClr val="172B4D"/>
                </a:solidFill>
                <a:effectLst/>
                <a:latin typeface="Open Sans" panose="020B0606030504020204" pitchFamily="34" charset="0"/>
                <a:ea typeface="Arial" panose="020B0604020202020204" pitchFamily="34" charset="0"/>
              </a:rPr>
              <a:t> </a:t>
            </a:r>
          </a:p>
          <a:p>
            <a:pPr marL="342900" lvl="0" indent="-342900">
              <a:lnSpc>
                <a:spcPct val="115000"/>
              </a:lnSpc>
              <a:buFont typeface="Symbol" panose="05050102010706020507" pitchFamily="18" charset="2"/>
              <a:buChar char=""/>
            </a:pPr>
            <a:r>
              <a:rPr lang="en-GB" sz="1700" i="1" dirty="0">
                <a:effectLst/>
                <a:latin typeface="Segoe UI" panose="020B0502040204020203" pitchFamily="34" charset="0"/>
                <a:ea typeface="Arial" panose="020B0604020202020204" pitchFamily="34" charset="0"/>
              </a:rPr>
              <a:t>Based on experience, current availability, and previous satisfaction an automated routing system may match each caller with the most appropriate</a:t>
            </a:r>
            <a:r>
              <a:rPr lang="en-IN" sz="1700" dirty="0">
                <a:latin typeface="Arial" panose="020B0604020202020204" pitchFamily="34" charset="0"/>
                <a:ea typeface="Arial" panose="020B0604020202020204" pitchFamily="34" charset="0"/>
              </a:rPr>
              <a:t> </a:t>
            </a:r>
            <a:r>
              <a:rPr lang="en-GB" sz="1700" i="1" dirty="0">
                <a:effectLst/>
                <a:latin typeface="Segoe UI" panose="020B0502040204020203" pitchFamily="34" charset="0"/>
                <a:ea typeface="Arial" panose="020B0604020202020204" pitchFamily="34" charset="0"/>
              </a:rPr>
              <a:t>astrologer.</a:t>
            </a:r>
          </a:p>
          <a:p>
            <a:pPr marL="342900" indent="-342900">
              <a:lnSpc>
                <a:spcPct val="115000"/>
              </a:lnSpc>
              <a:buFont typeface="Symbol" panose="05050102010706020507" pitchFamily="18" charset="2"/>
              <a:buChar char=""/>
            </a:pPr>
            <a:r>
              <a:rPr lang="en-GB" sz="1700" i="1" dirty="0">
                <a:effectLst/>
                <a:latin typeface="Segoe UI" panose="020B0502040204020203" pitchFamily="34" charset="0"/>
                <a:ea typeface="Arial" panose="020B0604020202020204" pitchFamily="34" charset="0"/>
              </a:rPr>
              <a:t>This keeps client satisfaction high, expedites resolutions, and avoids overwhelming individual agents.</a:t>
            </a:r>
          </a:p>
          <a:p>
            <a:pPr marL="0" indent="0">
              <a:lnSpc>
                <a:spcPct val="115000"/>
              </a:lnSpc>
              <a:buNone/>
            </a:pPr>
            <a:endParaRPr lang="en-GB" sz="1800" i="1" dirty="0">
              <a:latin typeface="Segoe UI" panose="020B0502040204020203" pitchFamily="34" charset="0"/>
              <a:ea typeface="Arial" panose="020B0604020202020204" pitchFamily="34" charset="0"/>
            </a:endParaRPr>
          </a:p>
          <a:p>
            <a:pPr marL="0" indent="0">
              <a:lnSpc>
                <a:spcPct val="100000"/>
              </a:lnSpc>
              <a:buNone/>
            </a:pPr>
            <a:r>
              <a:rPr lang="en-US" sz="1700" b="1" i="1" dirty="0">
                <a:solidFill>
                  <a:srgbClr val="C55A11"/>
                </a:solidFill>
                <a:latin typeface="Segoe UI" panose="020B0502040204020203" pitchFamily="34" charset="0"/>
              </a:rPr>
              <a:t>Chatbots and Intelligent Self-Service</a:t>
            </a:r>
          </a:p>
          <a:p>
            <a:pPr>
              <a:lnSpc>
                <a:spcPct val="100000"/>
              </a:lnSpc>
            </a:pPr>
            <a:r>
              <a:rPr lang="en-US" sz="1700" i="1" dirty="0">
                <a:latin typeface="Segoe UI" panose="020B0502040204020203" pitchFamily="34" charset="0"/>
              </a:rPr>
              <a:t>Many calls during busy hours are for straightforward inquiries, such as booking instructions or horoscope updates.</a:t>
            </a:r>
          </a:p>
          <a:p>
            <a:pPr>
              <a:lnSpc>
                <a:spcPct val="100000"/>
              </a:lnSpc>
            </a:pPr>
            <a:r>
              <a:rPr lang="en-US" sz="1700" i="1" dirty="0">
                <a:latin typeface="Segoe UI" panose="020B0502040204020203" pitchFamily="34" charset="0"/>
              </a:rPr>
              <a:t>These can be quickly handled by a natural-language chatbot or voice-bot, freeing up human agents for more in-depth, customized consultations.</a:t>
            </a:r>
          </a:p>
          <a:p>
            <a:pPr>
              <a:lnSpc>
                <a:spcPct val="100000"/>
              </a:lnSpc>
            </a:pPr>
            <a:r>
              <a:rPr lang="en-US" sz="1700" i="1" dirty="0">
                <a:latin typeface="Segoe UI" panose="020B0502040204020203" pitchFamily="34" charset="0"/>
              </a:rPr>
              <a:t>Wait times are reduced, and your team can concentrate on areas where they are most valuable.</a:t>
            </a:r>
          </a:p>
          <a:p>
            <a:pPr marL="0" indent="0">
              <a:lnSpc>
                <a:spcPct val="115000"/>
              </a:lnSpc>
              <a:buNone/>
            </a:pP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endParaRPr lang="en-IN" sz="1800" dirty="0">
              <a:effectLst/>
              <a:latin typeface="Arial" panose="020B0604020202020204" pitchFamily="34" charset="0"/>
              <a:ea typeface="Arial" panose="020B0604020202020204" pitchFamily="34" charset="0"/>
            </a:endParaRPr>
          </a:p>
          <a:p>
            <a:endParaRPr lang="en-IN" sz="1800" dirty="0">
              <a:effectLst/>
              <a:latin typeface="Arial" panose="020B0604020202020204" pitchFamily="34" charset="0"/>
              <a:ea typeface="Arial" panose="020B0604020202020204" pitchFamily="34" charset="0"/>
            </a:endParaRPr>
          </a:p>
          <a:p>
            <a:endParaRPr lang="en-IN" dirty="0"/>
          </a:p>
        </p:txBody>
      </p:sp>
      <p:pic>
        <p:nvPicPr>
          <p:cNvPr id="8" name="Picture 7">
            <a:extLst>
              <a:ext uri="{FF2B5EF4-FFF2-40B4-BE49-F238E27FC236}">
                <a16:creationId xmlns:a16="http://schemas.microsoft.com/office/drawing/2014/main" id="{A767F9DC-AB60-4046-8914-41F64734C0D2}"/>
              </a:ext>
            </a:extLst>
          </p:cNvPr>
          <p:cNvPicPr>
            <a:picLocks noChangeAspect="1"/>
          </p:cNvPicPr>
          <p:nvPr/>
        </p:nvPicPr>
        <p:blipFill>
          <a:blip r:embed="rId2"/>
          <a:stretch>
            <a:fillRect/>
          </a:stretch>
        </p:blipFill>
        <p:spPr>
          <a:xfrm>
            <a:off x="8278905" y="1690688"/>
            <a:ext cx="3446929" cy="3446929"/>
          </a:xfrm>
          <a:prstGeom prst="rect">
            <a:avLst/>
          </a:prstGeom>
        </p:spPr>
      </p:pic>
      <p:pic>
        <p:nvPicPr>
          <p:cNvPr id="10" name="Picture 9">
            <a:extLst>
              <a:ext uri="{FF2B5EF4-FFF2-40B4-BE49-F238E27FC236}">
                <a16:creationId xmlns:a16="http://schemas.microsoft.com/office/drawing/2014/main" id="{9BF16340-9139-40AA-8521-AA6A74B3A507}"/>
              </a:ext>
            </a:extLst>
          </p:cNvPr>
          <p:cNvPicPr>
            <a:picLocks noChangeAspect="1"/>
          </p:cNvPicPr>
          <p:nvPr/>
        </p:nvPicPr>
        <p:blipFill>
          <a:blip r:embed="rId3"/>
          <a:stretch>
            <a:fillRect/>
          </a:stretch>
        </p:blipFill>
        <p:spPr>
          <a:xfrm>
            <a:off x="4134970" y="6044593"/>
            <a:ext cx="524153" cy="524153"/>
          </a:xfrm>
          <a:prstGeom prst="rect">
            <a:avLst/>
          </a:prstGeom>
        </p:spPr>
      </p:pic>
      <p:pic>
        <p:nvPicPr>
          <p:cNvPr id="14" name="Picture 13">
            <a:extLst>
              <a:ext uri="{FF2B5EF4-FFF2-40B4-BE49-F238E27FC236}">
                <a16:creationId xmlns:a16="http://schemas.microsoft.com/office/drawing/2014/main" id="{50865178-7E08-47F8-A4DF-4B532A6B993F}"/>
              </a:ext>
            </a:extLst>
          </p:cNvPr>
          <p:cNvPicPr>
            <a:picLocks noChangeAspect="1"/>
          </p:cNvPicPr>
          <p:nvPr/>
        </p:nvPicPr>
        <p:blipFill>
          <a:blip r:embed="rId4"/>
          <a:stretch>
            <a:fillRect/>
          </a:stretch>
        </p:blipFill>
        <p:spPr>
          <a:xfrm>
            <a:off x="5665411" y="6015174"/>
            <a:ext cx="553572" cy="553572"/>
          </a:xfrm>
          <a:prstGeom prst="rect">
            <a:avLst/>
          </a:prstGeom>
        </p:spPr>
      </p:pic>
    </p:spTree>
    <p:extLst>
      <p:ext uri="{BB962C8B-B14F-4D97-AF65-F5344CB8AC3E}">
        <p14:creationId xmlns:p14="http://schemas.microsoft.com/office/powerpoint/2010/main" val="2638392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73103-7D45-48B0-A7BD-1732C7384B28}"/>
              </a:ext>
            </a:extLst>
          </p:cNvPr>
          <p:cNvSpPr>
            <a:spLocks noGrp="1"/>
          </p:cNvSpPr>
          <p:nvPr>
            <p:ph type="title"/>
          </p:nvPr>
        </p:nvSpPr>
        <p:spPr/>
        <p:txBody>
          <a:bodyPr>
            <a:normAutofit/>
          </a:bodyPr>
          <a:lstStyle/>
          <a:p>
            <a:pPr algn="ctr"/>
            <a:r>
              <a:rPr lang="en-IN" sz="3600" b="1" i="1" dirty="0">
                <a:latin typeface="Segoe UI" panose="020B0502040204020203" pitchFamily="34" charset="0"/>
                <a:cs typeface="Segoe UI" panose="020B0502040204020203" pitchFamily="34" charset="0"/>
              </a:rPr>
              <a:t>Key Strategic Insights</a:t>
            </a:r>
          </a:p>
        </p:txBody>
      </p:sp>
      <p:sp>
        <p:nvSpPr>
          <p:cNvPr id="3" name="Content Placeholder 2">
            <a:extLst>
              <a:ext uri="{FF2B5EF4-FFF2-40B4-BE49-F238E27FC236}">
                <a16:creationId xmlns:a16="http://schemas.microsoft.com/office/drawing/2014/main" id="{91B3C347-07AF-40F8-8A49-BF9AB263F9D8}"/>
              </a:ext>
            </a:extLst>
          </p:cNvPr>
          <p:cNvSpPr>
            <a:spLocks noGrp="1"/>
          </p:cNvSpPr>
          <p:nvPr>
            <p:ph idx="1"/>
          </p:nvPr>
        </p:nvSpPr>
        <p:spPr>
          <a:xfrm>
            <a:off x="838199" y="1586754"/>
            <a:ext cx="7355542" cy="4590210"/>
          </a:xfrm>
        </p:spPr>
        <p:txBody>
          <a:bodyPr>
            <a:normAutofit fontScale="92500" lnSpcReduction="10000"/>
          </a:bodyPr>
          <a:lstStyle/>
          <a:p>
            <a:pPr marL="0" indent="0">
              <a:lnSpc>
                <a:spcPct val="100000"/>
              </a:lnSpc>
              <a:buNone/>
            </a:pPr>
            <a:r>
              <a:rPr lang="en-US" sz="1800" b="1" i="1" dirty="0">
                <a:solidFill>
                  <a:srgbClr val="C55A11"/>
                </a:solidFill>
                <a:latin typeface="Segoe UI" panose="020B0502040204020203" pitchFamily="34" charset="0"/>
              </a:rPr>
              <a:t>Automated QA and Call Scoring</a:t>
            </a:r>
          </a:p>
          <a:p>
            <a:pPr>
              <a:lnSpc>
                <a:spcPct val="115000"/>
              </a:lnSpc>
            </a:pPr>
            <a:r>
              <a:rPr lang="en-US" sz="1800" i="1" dirty="0">
                <a:latin typeface="Segoe UI" panose="020B0502040204020203" pitchFamily="34" charset="0"/>
                <a:ea typeface="Arial" panose="020B0604020202020204" pitchFamily="34" charset="0"/>
              </a:rPr>
              <a:t>Manual quality reviews are uneven and take a long time.</a:t>
            </a:r>
          </a:p>
          <a:p>
            <a:pPr>
              <a:lnSpc>
                <a:spcPct val="115000"/>
              </a:lnSpc>
            </a:pPr>
            <a:r>
              <a:rPr lang="en-US" sz="1800" i="1" dirty="0">
                <a:latin typeface="Segoe UI" panose="020B0502040204020203" pitchFamily="34" charset="0"/>
                <a:ea typeface="Arial" panose="020B0604020202020204" pitchFamily="34" charset="0"/>
              </a:rPr>
              <a:t>AI may automatically evaluate calls for compliance, empathy, and clarity before producing tailored feedback for every agent.</a:t>
            </a:r>
          </a:p>
          <a:p>
            <a:pPr>
              <a:lnSpc>
                <a:spcPct val="115000"/>
              </a:lnSpc>
            </a:pPr>
            <a:r>
              <a:rPr lang="en-US" sz="1800" i="1" dirty="0">
                <a:latin typeface="Segoe UI" panose="020B0502040204020203" pitchFamily="34" charset="0"/>
                <a:ea typeface="Arial" panose="020B0604020202020204" pitchFamily="34" charset="0"/>
              </a:rPr>
              <a:t>This guarantees prompt, equitable assessments and transforms each conversation into a coaching opportunity.</a:t>
            </a:r>
          </a:p>
          <a:p>
            <a:pPr marL="0" indent="0">
              <a:lnSpc>
                <a:spcPct val="100000"/>
              </a:lnSpc>
              <a:buNone/>
            </a:pPr>
            <a:r>
              <a:rPr lang="en-US" sz="1800" b="1" i="1" dirty="0">
                <a:solidFill>
                  <a:srgbClr val="C55A11"/>
                </a:solidFill>
                <a:latin typeface="Segoe UI" panose="020B0502040204020203" pitchFamily="34" charset="0"/>
              </a:rPr>
              <a:t>Knowledge Support &amp; Live Agent Assistance</a:t>
            </a:r>
          </a:p>
          <a:p>
            <a:pPr>
              <a:lnSpc>
                <a:spcPct val="115000"/>
              </a:lnSpc>
            </a:pPr>
            <a:r>
              <a:rPr lang="en-US" sz="1800" i="1" dirty="0">
                <a:latin typeface="Segoe UI" panose="020B0502040204020203" pitchFamily="34" charset="0"/>
                <a:ea typeface="Arial" panose="020B0604020202020204" pitchFamily="34" charset="0"/>
              </a:rPr>
              <a:t>Agents who are inexperienced or overworked can have trouble with accuracy or speed.</a:t>
            </a:r>
          </a:p>
          <a:p>
            <a:pPr>
              <a:lnSpc>
                <a:spcPct val="115000"/>
              </a:lnSpc>
            </a:pPr>
            <a:r>
              <a:rPr lang="en-US" sz="1800" i="1" dirty="0">
                <a:latin typeface="Segoe UI" panose="020B0502040204020203" pitchFamily="34" charset="0"/>
                <a:ea typeface="Arial" panose="020B0604020202020204" pitchFamily="34" charset="0"/>
              </a:rPr>
              <a:t>During live calls, a real-time assist tool might recommend astrological references, treatments, or response templates.</a:t>
            </a:r>
          </a:p>
          <a:p>
            <a:pPr>
              <a:lnSpc>
                <a:spcPct val="115000"/>
              </a:lnSpc>
            </a:pPr>
            <a:r>
              <a:rPr lang="en-US" sz="1800" i="1" dirty="0">
                <a:latin typeface="Segoe UI" panose="020B0502040204020203" pitchFamily="34" charset="0"/>
                <a:ea typeface="Arial" panose="020B0604020202020204" pitchFamily="34" charset="0"/>
              </a:rPr>
              <a:t>These speeds up handling time without sacrificing quality, acting as a quiet coach.</a:t>
            </a:r>
          </a:p>
          <a:p>
            <a:pPr marL="0" indent="0">
              <a:lnSpc>
                <a:spcPct val="115000"/>
              </a:lnSpc>
              <a:buNone/>
            </a:pPr>
            <a:endParaRPr lang="en-GB" sz="1800" i="1" dirty="0">
              <a:latin typeface="Segoe UI" panose="020B0502040204020203" pitchFamily="34" charset="0"/>
              <a:ea typeface="Arial" panose="020B0604020202020204" pitchFamily="34" charset="0"/>
            </a:endParaRPr>
          </a:p>
          <a:p>
            <a:pPr marL="0" indent="0">
              <a:lnSpc>
                <a:spcPct val="115000"/>
              </a:lnSpc>
              <a:buNone/>
            </a:pPr>
            <a:endParaRPr lang="en-IN" sz="1800"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endParaRPr lang="en-IN" sz="1800" dirty="0">
              <a:effectLst/>
              <a:latin typeface="Arial" panose="020B0604020202020204" pitchFamily="34" charset="0"/>
              <a:ea typeface="Arial" panose="020B0604020202020204" pitchFamily="34" charset="0"/>
            </a:endParaRPr>
          </a:p>
          <a:p>
            <a:endParaRPr lang="en-IN" sz="1800" dirty="0">
              <a:effectLst/>
              <a:latin typeface="Arial" panose="020B0604020202020204" pitchFamily="34" charset="0"/>
              <a:ea typeface="Arial" panose="020B0604020202020204" pitchFamily="34" charset="0"/>
            </a:endParaRPr>
          </a:p>
          <a:p>
            <a:endParaRPr lang="en-IN" dirty="0"/>
          </a:p>
        </p:txBody>
      </p:sp>
      <p:pic>
        <p:nvPicPr>
          <p:cNvPr id="5" name="Picture 4">
            <a:extLst>
              <a:ext uri="{FF2B5EF4-FFF2-40B4-BE49-F238E27FC236}">
                <a16:creationId xmlns:a16="http://schemas.microsoft.com/office/drawing/2014/main" id="{6A456B82-768E-4709-B49C-0D1829F637BE}"/>
              </a:ext>
            </a:extLst>
          </p:cNvPr>
          <p:cNvPicPr>
            <a:picLocks noChangeAspect="1"/>
          </p:cNvPicPr>
          <p:nvPr/>
        </p:nvPicPr>
        <p:blipFill>
          <a:blip r:embed="rId2"/>
          <a:stretch>
            <a:fillRect/>
          </a:stretch>
        </p:blipFill>
        <p:spPr>
          <a:xfrm>
            <a:off x="8193741" y="1586754"/>
            <a:ext cx="3581400" cy="3581400"/>
          </a:xfrm>
          <a:prstGeom prst="rect">
            <a:avLst/>
          </a:prstGeom>
        </p:spPr>
      </p:pic>
      <p:pic>
        <p:nvPicPr>
          <p:cNvPr id="7" name="Picture 6">
            <a:extLst>
              <a:ext uri="{FF2B5EF4-FFF2-40B4-BE49-F238E27FC236}">
                <a16:creationId xmlns:a16="http://schemas.microsoft.com/office/drawing/2014/main" id="{B8E0B908-5708-4397-A500-2900F8F24E30}"/>
              </a:ext>
            </a:extLst>
          </p:cNvPr>
          <p:cNvPicPr>
            <a:picLocks noChangeAspect="1"/>
          </p:cNvPicPr>
          <p:nvPr/>
        </p:nvPicPr>
        <p:blipFill>
          <a:blip r:embed="rId3"/>
          <a:stretch>
            <a:fillRect/>
          </a:stretch>
        </p:blipFill>
        <p:spPr>
          <a:xfrm>
            <a:off x="3314699" y="5921187"/>
            <a:ext cx="699247" cy="699247"/>
          </a:xfrm>
          <a:prstGeom prst="rect">
            <a:avLst/>
          </a:prstGeom>
        </p:spPr>
      </p:pic>
      <p:pic>
        <p:nvPicPr>
          <p:cNvPr id="9" name="Picture 8">
            <a:extLst>
              <a:ext uri="{FF2B5EF4-FFF2-40B4-BE49-F238E27FC236}">
                <a16:creationId xmlns:a16="http://schemas.microsoft.com/office/drawing/2014/main" id="{C11D9EDF-464A-4763-9988-7219FA1F88C3}"/>
              </a:ext>
            </a:extLst>
          </p:cNvPr>
          <p:cNvPicPr>
            <a:picLocks noChangeAspect="1"/>
          </p:cNvPicPr>
          <p:nvPr/>
        </p:nvPicPr>
        <p:blipFill>
          <a:blip r:embed="rId4"/>
          <a:stretch>
            <a:fillRect/>
          </a:stretch>
        </p:blipFill>
        <p:spPr>
          <a:xfrm>
            <a:off x="5244352" y="5921186"/>
            <a:ext cx="699247" cy="699247"/>
          </a:xfrm>
          <a:prstGeom prst="rect">
            <a:avLst/>
          </a:prstGeom>
        </p:spPr>
      </p:pic>
    </p:spTree>
    <p:extLst>
      <p:ext uri="{BB962C8B-B14F-4D97-AF65-F5344CB8AC3E}">
        <p14:creationId xmlns:p14="http://schemas.microsoft.com/office/powerpoint/2010/main" val="3280891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93CE-C373-4B34-BFA5-684C9E703CB5}"/>
              </a:ext>
            </a:extLst>
          </p:cNvPr>
          <p:cNvSpPr>
            <a:spLocks noGrp="1"/>
          </p:cNvSpPr>
          <p:nvPr>
            <p:ph type="title"/>
          </p:nvPr>
        </p:nvSpPr>
        <p:spPr/>
        <p:txBody>
          <a:bodyPr>
            <a:normAutofit/>
          </a:bodyPr>
          <a:lstStyle/>
          <a:p>
            <a:pPr algn="ctr"/>
            <a:r>
              <a:rPr lang="en-IN" sz="3200" b="1" i="1" dirty="0">
                <a:latin typeface="Segoe UI" panose="020B0502040204020203" pitchFamily="34" charset="0"/>
                <a:cs typeface="Segoe UI" panose="020B0502040204020203" pitchFamily="34" charset="0"/>
              </a:rPr>
              <a:t>Conclusion </a:t>
            </a:r>
          </a:p>
        </p:txBody>
      </p:sp>
      <p:sp>
        <p:nvSpPr>
          <p:cNvPr id="3" name="Content Placeholder 2">
            <a:extLst>
              <a:ext uri="{FF2B5EF4-FFF2-40B4-BE49-F238E27FC236}">
                <a16:creationId xmlns:a16="http://schemas.microsoft.com/office/drawing/2014/main" id="{5EEDF885-4583-4EE6-B654-150BBAC2712C}"/>
              </a:ext>
            </a:extLst>
          </p:cNvPr>
          <p:cNvSpPr>
            <a:spLocks noGrp="1"/>
          </p:cNvSpPr>
          <p:nvPr>
            <p:ph idx="1"/>
          </p:nvPr>
        </p:nvSpPr>
        <p:spPr>
          <a:xfrm>
            <a:off x="838200" y="1825625"/>
            <a:ext cx="6503894" cy="4351338"/>
          </a:xfrm>
        </p:spPr>
        <p:txBody>
          <a:bodyPr/>
          <a:lstStyle/>
          <a:p>
            <a:pPr>
              <a:lnSpc>
                <a:spcPct val="105000"/>
              </a:lnSpc>
            </a:pPr>
            <a:r>
              <a:rPr lang="en-US" sz="1700" i="1" dirty="0">
                <a:latin typeface="Segoe UI" panose="020B0502040204020203" pitchFamily="34" charset="0"/>
              </a:rPr>
              <a:t>Profitability and customer happiness can be increased by modernizing technology and optimizing processes</a:t>
            </a:r>
          </a:p>
          <a:p>
            <a:pPr>
              <a:lnSpc>
                <a:spcPct val="105000"/>
              </a:lnSpc>
            </a:pPr>
            <a:r>
              <a:rPr lang="en-US" sz="1700" i="1" dirty="0">
                <a:latin typeface="Segoe UI" panose="020B0502040204020203" pitchFamily="34" charset="0"/>
              </a:rPr>
              <a:t>Using chatbots for general queries will lower operational costs and reserve consultants for peak hours.</a:t>
            </a:r>
          </a:p>
          <a:p>
            <a:pPr>
              <a:lnSpc>
                <a:spcPct val="105000"/>
              </a:lnSpc>
            </a:pPr>
            <a:r>
              <a:rPr lang="en-US" sz="1700" i="1" dirty="0">
                <a:latin typeface="Segoe UI" panose="020B0502040204020203" pitchFamily="34" charset="0"/>
              </a:rPr>
              <a:t>Focusing on call consultations can increase revenue and customer engagement.</a:t>
            </a:r>
          </a:p>
          <a:p>
            <a:pPr>
              <a:lnSpc>
                <a:spcPct val="105000"/>
              </a:lnSpc>
            </a:pPr>
            <a:r>
              <a:rPr lang="en-US" sz="1700" i="1" dirty="0">
                <a:latin typeface="Segoe UI" panose="020B0502040204020203" pitchFamily="34" charset="0"/>
              </a:rPr>
              <a:t>Reward and keep top-performing morning shift experts by finding out what they do well.</a:t>
            </a:r>
          </a:p>
          <a:p>
            <a:pPr>
              <a:lnSpc>
                <a:spcPct val="105000"/>
              </a:lnSpc>
            </a:pPr>
            <a:r>
              <a:rPr lang="en-US" sz="1700" i="1" dirty="0">
                <a:latin typeface="Segoe UI" panose="020B0502040204020203" pitchFamily="34" charset="0"/>
              </a:rPr>
              <a:t>Recognizing top consultants and organizing regular training will ensure consistent service quality.</a:t>
            </a:r>
          </a:p>
          <a:p>
            <a:pPr>
              <a:lnSpc>
                <a:spcPct val="105000"/>
              </a:lnSpc>
            </a:pPr>
            <a:r>
              <a:rPr lang="en-US" sz="1700" i="1" dirty="0">
                <a:latin typeface="Segoe UI" panose="020B0502040204020203" pitchFamily="34" charset="0"/>
              </a:rPr>
              <a:t>Training is needed for gurus to efficiently solve problems to shorten call duration without affecting rating/satisfaction.</a:t>
            </a:r>
          </a:p>
          <a:p>
            <a:endParaRPr lang="en-US" dirty="0"/>
          </a:p>
        </p:txBody>
      </p:sp>
      <p:pic>
        <p:nvPicPr>
          <p:cNvPr id="7" name="Picture 6">
            <a:extLst>
              <a:ext uri="{FF2B5EF4-FFF2-40B4-BE49-F238E27FC236}">
                <a16:creationId xmlns:a16="http://schemas.microsoft.com/office/drawing/2014/main" id="{08C42981-43B2-46BE-B224-1042F65D70FE}"/>
              </a:ext>
            </a:extLst>
          </p:cNvPr>
          <p:cNvPicPr>
            <a:picLocks noChangeAspect="1"/>
          </p:cNvPicPr>
          <p:nvPr/>
        </p:nvPicPr>
        <p:blipFill>
          <a:blip r:embed="rId2"/>
          <a:stretch>
            <a:fillRect/>
          </a:stretch>
        </p:blipFill>
        <p:spPr>
          <a:xfrm flipH="1">
            <a:off x="1098176" y="5867398"/>
            <a:ext cx="744071" cy="744071"/>
          </a:xfrm>
          <a:prstGeom prst="rect">
            <a:avLst/>
          </a:prstGeom>
        </p:spPr>
      </p:pic>
      <p:pic>
        <p:nvPicPr>
          <p:cNvPr id="9" name="Picture 8">
            <a:extLst>
              <a:ext uri="{FF2B5EF4-FFF2-40B4-BE49-F238E27FC236}">
                <a16:creationId xmlns:a16="http://schemas.microsoft.com/office/drawing/2014/main" id="{62E07B52-58E5-4056-951E-3D15018D339E}"/>
              </a:ext>
            </a:extLst>
          </p:cNvPr>
          <p:cNvPicPr>
            <a:picLocks noChangeAspect="1"/>
          </p:cNvPicPr>
          <p:nvPr/>
        </p:nvPicPr>
        <p:blipFill>
          <a:blip r:embed="rId3"/>
          <a:stretch>
            <a:fillRect/>
          </a:stretch>
        </p:blipFill>
        <p:spPr>
          <a:xfrm>
            <a:off x="5183841" y="5804645"/>
            <a:ext cx="869576" cy="869576"/>
          </a:xfrm>
          <a:prstGeom prst="rect">
            <a:avLst/>
          </a:prstGeom>
        </p:spPr>
      </p:pic>
      <p:pic>
        <p:nvPicPr>
          <p:cNvPr id="11" name="Picture 10">
            <a:extLst>
              <a:ext uri="{FF2B5EF4-FFF2-40B4-BE49-F238E27FC236}">
                <a16:creationId xmlns:a16="http://schemas.microsoft.com/office/drawing/2014/main" id="{5F1FD107-6F7C-472A-938A-5A6F2CA99EFB}"/>
              </a:ext>
            </a:extLst>
          </p:cNvPr>
          <p:cNvPicPr>
            <a:picLocks noChangeAspect="1"/>
          </p:cNvPicPr>
          <p:nvPr/>
        </p:nvPicPr>
        <p:blipFill>
          <a:blip r:embed="rId4"/>
          <a:stretch>
            <a:fillRect/>
          </a:stretch>
        </p:blipFill>
        <p:spPr>
          <a:xfrm>
            <a:off x="9430870" y="5681569"/>
            <a:ext cx="811306" cy="811306"/>
          </a:xfrm>
          <a:prstGeom prst="rect">
            <a:avLst/>
          </a:prstGeom>
        </p:spPr>
      </p:pic>
      <p:pic>
        <p:nvPicPr>
          <p:cNvPr id="6" name="Picture 5">
            <a:extLst>
              <a:ext uri="{FF2B5EF4-FFF2-40B4-BE49-F238E27FC236}">
                <a16:creationId xmlns:a16="http://schemas.microsoft.com/office/drawing/2014/main" id="{22A45485-21A4-4EB1-BF79-335BB3D2DE12}"/>
              </a:ext>
            </a:extLst>
          </p:cNvPr>
          <p:cNvPicPr>
            <a:picLocks noChangeAspect="1"/>
          </p:cNvPicPr>
          <p:nvPr/>
        </p:nvPicPr>
        <p:blipFill>
          <a:blip r:embed="rId5"/>
          <a:stretch>
            <a:fillRect/>
          </a:stretch>
        </p:blipFill>
        <p:spPr>
          <a:xfrm>
            <a:off x="8216153" y="2214280"/>
            <a:ext cx="2649072" cy="2649072"/>
          </a:xfrm>
          <a:prstGeom prst="rect">
            <a:avLst/>
          </a:prstGeom>
        </p:spPr>
      </p:pic>
    </p:spTree>
    <p:extLst>
      <p:ext uri="{BB962C8B-B14F-4D97-AF65-F5344CB8AC3E}">
        <p14:creationId xmlns:p14="http://schemas.microsoft.com/office/powerpoint/2010/main" val="1655882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163B04-C154-4AE9-8DBC-1EB58BE74BCD}"/>
              </a:ext>
            </a:extLst>
          </p:cNvPr>
          <p:cNvPicPr>
            <a:picLocks noChangeAspect="1"/>
          </p:cNvPicPr>
          <p:nvPr/>
        </p:nvPicPr>
        <p:blipFill rotWithShape="1">
          <a:blip r:embed="rId2"/>
          <a:srcRect l="597" r="1"/>
          <a:stretch/>
        </p:blipFill>
        <p:spPr>
          <a:xfrm>
            <a:off x="286871" y="170329"/>
            <a:ext cx="11688468" cy="6409765"/>
          </a:xfrm>
          <a:prstGeom prst="rect">
            <a:avLst/>
          </a:prstGeom>
        </p:spPr>
      </p:pic>
    </p:spTree>
    <p:extLst>
      <p:ext uri="{BB962C8B-B14F-4D97-AF65-F5344CB8AC3E}">
        <p14:creationId xmlns:p14="http://schemas.microsoft.com/office/powerpoint/2010/main" val="3018206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B653B9-B772-4D81-8DB6-07D97B109045}"/>
              </a:ext>
            </a:extLst>
          </p:cNvPr>
          <p:cNvPicPr>
            <a:picLocks noChangeAspect="1"/>
          </p:cNvPicPr>
          <p:nvPr/>
        </p:nvPicPr>
        <p:blipFill>
          <a:blip r:embed="rId2"/>
          <a:stretch>
            <a:fillRect/>
          </a:stretch>
        </p:blipFill>
        <p:spPr>
          <a:xfrm>
            <a:off x="3657599" y="1066800"/>
            <a:ext cx="6535272" cy="4800600"/>
          </a:xfrm>
          <a:prstGeom prst="rect">
            <a:avLst/>
          </a:prstGeom>
        </p:spPr>
      </p:pic>
      <p:pic>
        <p:nvPicPr>
          <p:cNvPr id="5" name="Picture 4">
            <a:extLst>
              <a:ext uri="{FF2B5EF4-FFF2-40B4-BE49-F238E27FC236}">
                <a16:creationId xmlns:a16="http://schemas.microsoft.com/office/drawing/2014/main" id="{DAEDAB92-F7D5-4B2E-8939-33C89016C614}"/>
              </a:ext>
            </a:extLst>
          </p:cNvPr>
          <p:cNvPicPr>
            <a:picLocks noChangeAspect="1"/>
          </p:cNvPicPr>
          <p:nvPr/>
        </p:nvPicPr>
        <p:blipFill>
          <a:blip r:embed="rId3"/>
          <a:stretch>
            <a:fillRect/>
          </a:stretch>
        </p:blipFill>
        <p:spPr>
          <a:xfrm>
            <a:off x="2232212" y="2994211"/>
            <a:ext cx="2980765" cy="2980765"/>
          </a:xfrm>
          <a:prstGeom prst="rect">
            <a:avLst/>
          </a:prstGeom>
        </p:spPr>
      </p:pic>
    </p:spTree>
    <p:extLst>
      <p:ext uri="{BB962C8B-B14F-4D97-AF65-F5344CB8AC3E}">
        <p14:creationId xmlns:p14="http://schemas.microsoft.com/office/powerpoint/2010/main" val="2768294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ysClr val="windowText" lastClr="000000"/>
    </a:dk1>
    <a:lt1>
      <a:sysClr val="window" lastClr="FFFFFF"/>
    </a:lt1>
    <a:dk2>
      <a:srgbClr val="444D26"/>
    </a:dk2>
    <a:lt2>
      <a:srgbClr val="FEFAC9"/>
    </a:lt2>
    <a:accent1>
      <a:srgbClr val="F3A447"/>
    </a:accent1>
    <a:accent2>
      <a:srgbClr val="F3A447"/>
    </a:accent2>
    <a:accent3>
      <a:srgbClr val="E7BC29"/>
    </a:accent3>
    <a:accent4>
      <a:srgbClr val="D092A7"/>
    </a:accent4>
    <a:accent5>
      <a:srgbClr val="9C85C0"/>
    </a:accent5>
    <a:accent6>
      <a:srgbClr val="F3A447"/>
    </a:accent6>
    <a:hlink>
      <a:srgbClr val="E7BC29"/>
    </a:hlink>
    <a:folHlink>
      <a:srgbClr val="7F6F6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2">
    <a:dk1>
      <a:sysClr val="windowText" lastClr="000000"/>
    </a:dk1>
    <a:lt1>
      <a:sysClr val="window" lastClr="FFFFFF"/>
    </a:lt1>
    <a:dk2>
      <a:srgbClr val="444D26"/>
    </a:dk2>
    <a:lt2>
      <a:srgbClr val="FEFAC9"/>
    </a:lt2>
    <a:accent1>
      <a:srgbClr val="F3A447"/>
    </a:accent1>
    <a:accent2>
      <a:srgbClr val="F3A447"/>
    </a:accent2>
    <a:accent3>
      <a:srgbClr val="E7BC29"/>
    </a:accent3>
    <a:accent4>
      <a:srgbClr val="D092A7"/>
    </a:accent4>
    <a:accent5>
      <a:srgbClr val="9C85C0"/>
    </a:accent5>
    <a:accent6>
      <a:srgbClr val="F3A447"/>
    </a:accent6>
    <a:hlink>
      <a:srgbClr val="E7BC29"/>
    </a:hlink>
    <a:folHlink>
      <a:srgbClr val="7F6F6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2">
    <a:dk1>
      <a:sysClr val="windowText" lastClr="000000"/>
    </a:dk1>
    <a:lt1>
      <a:sysClr val="window" lastClr="FFFFFF"/>
    </a:lt1>
    <a:dk2>
      <a:srgbClr val="444D26"/>
    </a:dk2>
    <a:lt2>
      <a:srgbClr val="FEFAC9"/>
    </a:lt2>
    <a:accent1>
      <a:srgbClr val="F3A447"/>
    </a:accent1>
    <a:accent2>
      <a:srgbClr val="F3A447"/>
    </a:accent2>
    <a:accent3>
      <a:srgbClr val="E7BC29"/>
    </a:accent3>
    <a:accent4>
      <a:srgbClr val="D092A7"/>
    </a:accent4>
    <a:accent5>
      <a:srgbClr val="9C85C0"/>
    </a:accent5>
    <a:accent6>
      <a:srgbClr val="F3A447"/>
    </a:accent6>
    <a:hlink>
      <a:srgbClr val="E7BC29"/>
    </a:hlink>
    <a:folHlink>
      <a:srgbClr val="7F6F6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2">
    <a:dk1>
      <a:sysClr val="windowText" lastClr="000000"/>
    </a:dk1>
    <a:lt1>
      <a:sysClr val="window" lastClr="FFFFFF"/>
    </a:lt1>
    <a:dk2>
      <a:srgbClr val="444D26"/>
    </a:dk2>
    <a:lt2>
      <a:srgbClr val="FEFAC9"/>
    </a:lt2>
    <a:accent1>
      <a:srgbClr val="F3A447"/>
    </a:accent1>
    <a:accent2>
      <a:srgbClr val="F3A447"/>
    </a:accent2>
    <a:accent3>
      <a:srgbClr val="E7BC29"/>
    </a:accent3>
    <a:accent4>
      <a:srgbClr val="D092A7"/>
    </a:accent4>
    <a:accent5>
      <a:srgbClr val="9C85C0"/>
    </a:accent5>
    <a:accent6>
      <a:srgbClr val="F3A447"/>
    </a:accent6>
    <a:hlink>
      <a:srgbClr val="E7BC29"/>
    </a:hlink>
    <a:folHlink>
      <a:srgbClr val="7F6F6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Ion Boardroom</Template>
  <TotalTime>345</TotalTime>
  <Words>1306</Words>
  <Application>Microsoft Office PowerPoint</Application>
  <PresentationFormat>Widescreen</PresentationFormat>
  <Paragraphs>129</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Open Sans</vt:lpstr>
      <vt:lpstr>Segoe UI</vt:lpstr>
      <vt:lpstr>Symbol</vt:lpstr>
      <vt:lpstr>Office Theme</vt:lpstr>
      <vt:lpstr>AstroSage Call Centre Analysis</vt:lpstr>
      <vt:lpstr>Introduction to AstroSage Call Centre</vt:lpstr>
      <vt:lpstr>Problem Statement</vt:lpstr>
      <vt:lpstr>Data Overview</vt:lpstr>
      <vt:lpstr>Data Overview</vt:lpstr>
      <vt:lpstr>Data Cleaning </vt:lpstr>
      <vt:lpstr>Analysis using excel knowledge</vt:lpstr>
      <vt:lpstr>KPIs (Key Performance Indicators)</vt:lpstr>
      <vt:lpstr>Total Revenue Generated</vt:lpstr>
      <vt:lpstr>Hourly Call Volume</vt:lpstr>
      <vt:lpstr>Call Status Distribution</vt:lpstr>
      <vt:lpstr>Chat Status Distribution</vt:lpstr>
      <vt:lpstr>Top 10 Gurus and No of Calls they made</vt:lpstr>
      <vt:lpstr>Top 10 Gurus by Rating</vt:lpstr>
      <vt:lpstr>Rating vs Users</vt:lpstr>
      <vt:lpstr>Day Wise Call Volume</vt:lpstr>
      <vt:lpstr>Website and Calls</vt:lpstr>
      <vt:lpstr>Key Strategic Insights</vt:lpstr>
      <vt:lpstr>Key Strategic Insights</vt:lpstr>
      <vt:lpstr>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Saima Nasreen</dc:creator>
  <cp:lastModifiedBy>Saima Nasreen</cp:lastModifiedBy>
  <cp:revision>37</cp:revision>
  <dcterms:created xsi:type="dcterms:W3CDTF">2026-02-01T11:53:48Z</dcterms:created>
  <dcterms:modified xsi:type="dcterms:W3CDTF">2026-02-18T11:19:59Z</dcterms:modified>
</cp:coreProperties>
</file>